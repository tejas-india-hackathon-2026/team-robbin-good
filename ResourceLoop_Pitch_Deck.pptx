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011680"/>
            <a:ext cx="16459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ResourceLoop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0B981"/>
                </a:solidFill>
                <a:latin typeface="Calibri"/>
              </a:defRPr>
            </a:pPr>
            <a:r>
              <a:t>Waste-to-Resource Marketplace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Connecting Households, Collection Agents, Businesses &amp; Farmers</a:t>
            </a:r>
            <a:br/>
            <a:r>
              <a:t>in the Circular Economy Lifecycle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760720"/>
            <a:ext cx="2926080" cy="457200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Tejas India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India's Waste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C2626"/>
                </a:solidFill>
                <a:latin typeface="Calibri"/>
              </a:defRPr>
            </a:pPr>
            <a:r>
              <a:t>62M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Tonnes of waste</a:t>
            </a:r>
            <a:br/>
            <a:r>
              <a:t>generated annually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4630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9E0B"/>
                </a:solidFill>
                <a:latin typeface="Calibri"/>
              </a:defRPr>
            </a:pPr>
            <a:r>
              <a:t>1,60,000+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Tonnes per day</a:t>
            </a:r>
            <a:br/>
            <a:r>
              <a:t>(MSW generation)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630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59669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Of waste is organic</a:t>
            </a:r>
            <a:br/>
            <a:r>
              <a:t>/ biodegradable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4630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C2626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4688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Goes unprocessed</a:t>
            </a:r>
            <a:br/>
            <a:r>
              <a:t>to landfills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64E3B"/>
                </a:solidFill>
                <a:latin typeface="Calibri"/>
              </a:defRPr>
            </a:pPr>
            <a:r>
              <a:t>Key Facts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India generates 55–62 MT of municipal solid waste annually — projected to reach 165 MT by 2030 (MoHUA)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Only ~30% of waste is scientifically processed; rest goes to overflowing landfills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50% of MSW is organic — a massive composting opportunity going untapped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Plastic waste: 9.4 MT/year generated, ~5.6 MT recycled through informal sector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E-waste is the fastest growing stream — 7.4% CAGR through 2031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India's 3,159 landfills hold ~800 MT of legacy waste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1F242A"/>
                </a:solidFill>
                <a:latin typeface="Calibri"/>
              </a:defRPr>
            </a:pPr>
            <a:r>
              <a:t>•  Circular economy potential: $2 Trillion market by 2050, 10M jobs (Env. Ministry, Feb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Our Solution — ResourceLoop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A full-stack B2B + B2C waste-to-resource marketplace connecting all stakeholders in the circular economy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3774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317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Household</a:t>
            </a:r>
            <a:br/>
            <a:r>
              <a:t>Pickups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08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Request waste collection,</a:t>
            </a:r>
            <a:br/>
            <a:r>
              <a:t>get paid via rate card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23774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3317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B2B</a:t>
            </a:r>
            <a:br/>
            <a:r>
              <a:t>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Businesses list waste,</a:t>
            </a:r>
            <a:br/>
            <a:r>
              <a:t>buyers purchase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774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3317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Agent</a:t>
            </a:r>
            <a:br/>
            <a:r>
              <a:t>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108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Collect, categorize,</a:t>
            </a:r>
            <a:br/>
            <a:r>
              <a:t>credit wallets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8912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6634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177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Compost &amp;</a:t>
            </a:r>
            <a:br/>
            <a:r>
              <a:t>Farmer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94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Biodegradable → Compost</a:t>
            </a:r>
            <a:br/>
            <a:r>
              <a:t>→ Farmers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38912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63440" y="46634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Wallet &amp;</a:t>
            </a:r>
            <a:br/>
            <a:r>
              <a:t>Payouts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394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Rate-card based</a:t>
            </a:r>
            <a:br/>
            <a:r>
              <a:t>instant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38912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21040" y="466344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6177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Impact</a:t>
            </a:r>
            <a:br/>
            <a:r>
              <a:t>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394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CO2 savings tracked</a:t>
            </a:r>
            <a:br/>
            <a:r>
              <a:t>per transaction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Oval 3"/>
          <p:cNvSpPr/>
          <p:nvPr/>
        </p:nvSpPr>
        <p:spPr>
          <a:xfrm>
            <a:off x="1005840" y="1463040"/>
            <a:ext cx="640080" cy="64008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7360" y="1719072"/>
            <a:ext cx="731520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42A"/>
                </a:solidFill>
                <a:latin typeface="Calibri"/>
              </a:defRPr>
            </a:pPr>
            <a:r>
              <a:t>Household</a:t>
            </a:r>
            <a:br/>
            <a:r>
              <a:t>Requests Pickup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Select waste type,</a:t>
            </a:r>
            <a:br/>
            <a:r>
              <a:t>category &amp; sub-type</a:t>
            </a:r>
          </a:p>
        </p:txBody>
      </p:sp>
      <p:sp>
        <p:nvSpPr>
          <p:cNvPr id="8" name="Oval 7"/>
          <p:cNvSpPr/>
          <p:nvPr/>
        </p:nvSpPr>
        <p:spPr>
          <a:xfrm>
            <a:off x="2926080" y="1463040"/>
            <a:ext cx="640080" cy="6400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719072"/>
            <a:ext cx="731520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37744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42A"/>
                </a:solidFill>
                <a:latin typeface="Calibri"/>
              </a:defRPr>
            </a:pPr>
            <a:r>
              <a:t>Agent</a:t>
            </a:r>
            <a:br/>
            <a: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918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Auto-matched by city,</a:t>
            </a:r>
            <a:br/>
            <a:r>
              <a:t>agent claims &amp; collects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14630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719072"/>
            <a:ext cx="731520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7744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42A"/>
                </a:solidFill>
                <a:latin typeface="Calibri"/>
              </a:defRPr>
            </a:pPr>
            <a:r>
              <a:t>Waste</a:t>
            </a:r>
            <a:br/>
            <a:r>
              <a:t>Categorized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2918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Recyclable / Biodegradable</a:t>
            </a:r>
            <a:br/>
            <a:r>
              <a:t>+ actual quantity logged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719072"/>
            <a:ext cx="731520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42A"/>
                </a:solidFill>
                <a:latin typeface="Calibri"/>
              </a:defRPr>
            </a:pPr>
            <a:r>
              <a:t>Wallet</a:t>
            </a:r>
            <a:br/>
            <a:r>
              <a:t>Credited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2918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Payout per rate card</a:t>
            </a:r>
            <a:br/>
            <a:r>
              <a:t>(₹1-₹25/kg)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146304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19072"/>
            <a:ext cx="731520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37744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42A"/>
                </a:solidFill>
                <a:latin typeface="Calibri"/>
              </a:defRPr>
            </a:pPr>
            <a:r>
              <a:t>B2B</a:t>
            </a:r>
            <a:br/>
            <a:r>
              <a:t>Marketplace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2918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Businesses list waste,</a:t>
            </a:r>
            <a:br/>
            <a:r>
              <a:t>buyers purchase &amp; trade</a:t>
            </a:r>
          </a:p>
        </p:txBody>
      </p:sp>
      <p:sp>
        <p:nvSpPr>
          <p:cNvPr id="24" name="Oval 23"/>
          <p:cNvSpPr/>
          <p:nvPr/>
        </p:nvSpPr>
        <p:spPr>
          <a:xfrm>
            <a:off x="10607040" y="14630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2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37744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42A"/>
                </a:solidFill>
                <a:latin typeface="Calibri"/>
              </a:defRPr>
            </a:pPr>
            <a:r>
              <a:t>Compost</a:t>
            </a:r>
            <a:br/>
            <a:r>
              <a:t>→ Farmers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32918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Biodegradable waste</a:t>
            </a:r>
            <a:br/>
            <a:r>
              <a:t>→ Compost → Distribution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572000"/>
            <a:ext cx="10698480" cy="365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7548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4E3B"/>
                </a:solidFill>
                <a:latin typeface="Calibri"/>
              </a:defRPr>
            </a:pPr>
            <a:r>
              <a:t>B2B Transaction Flow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6B7280"/>
                </a:solidFill>
                <a:latin typeface="Calibri"/>
              </a:defRPr>
            </a:pPr>
            <a:r>
              <a:t>Seller lists waste inventory → Buyer searches &amp; sends purchase request → Seller accepts (auto-rejects others) → Quantity validated &amp; deducted → Transaction complete with 5% platform commission → CO2 savings calculated</a:t>
            </a:r>
          </a:p>
          <a:p>
            <a:pPr algn="l">
              <a:spcBef>
                <a:spcPts val="1200"/>
              </a:spcBef>
              <a:defRPr sz="1300" b="1">
                <a:solidFill>
                  <a:srgbClr val="059669"/>
                </a:solidFill>
                <a:latin typeface="Calibri"/>
              </a:defRPr>
            </a:pPr>
            <a:r>
              <a:t>Rate Card:  PLASTIC ₹12/kg  |  METAL ₹25/kg  |  PAPER ₹6/kg  |  E-WASTE ₹15/kg  |  FOOD WASTE ₹2/kg  |  GARDEN WASTE ₹1/kg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4114800" cy="411480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$14.3B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India Waste Management</a:t>
            </a:r>
            <a:br/>
            <a:r>
              <a:t>Market (2026)</a:t>
            </a:r>
          </a:p>
        </p:txBody>
      </p:sp>
      <p:sp>
        <p:nvSpPr>
          <p:cNvPr id="8" name="Oval 7"/>
          <p:cNvSpPr/>
          <p:nvPr/>
        </p:nvSpPr>
        <p:spPr>
          <a:xfrm>
            <a:off x="2743200" y="2560320"/>
            <a:ext cx="2926080" cy="29260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7432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291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6576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Waste Recycling Services</a:t>
            </a:r>
            <a:br/>
            <a:r>
              <a:t>Market (India)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3474720"/>
            <a:ext cx="1645920" cy="1645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3657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$350M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206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572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Addressable B2B+B2C</a:t>
            </a:r>
            <a:br/>
            <a:r>
              <a:t>Marketplace (5%)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64592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783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4E3B"/>
                </a:solidFill>
                <a:latin typeface="Calibri"/>
              </a:defRPr>
            </a:pPr>
            <a:r>
              <a:t>5.8% CAGR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1488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Waste Management Market</a:t>
            </a:r>
            <a:br/>
            <a:r>
              <a:t>2026–2031 (Mordor Intelligence)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83464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2971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4E3B"/>
                </a:solidFill>
                <a:latin typeface="Calibri"/>
              </a:defRPr>
            </a:pPr>
            <a:r>
              <a:t>9.6% CAGR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3375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Waste Recycling Services</a:t>
            </a:r>
            <a:br/>
            <a:r>
              <a:t>2025–2033 (Grand View Research)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02336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41605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4E3B"/>
                </a:solidFill>
                <a:latin typeface="Calibri"/>
              </a:defRPr>
            </a:pPr>
            <a:r>
              <a:t>$2 Trillion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5262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India Circular Economy</a:t>
            </a:r>
            <a:br/>
            <a:r>
              <a:t>potential by 2050 (MoEFCC)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21208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4E3B"/>
                </a:solidFill>
                <a:latin typeface="Calibri"/>
              </a:defRPr>
            </a:pPr>
            <a:r>
              <a:t>10M Jobs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715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Circular Economy</a:t>
            </a:r>
            <a:br/>
            <a:r>
              <a:t>employment potential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Sources: Mordor Intelligence, Grand View Research, Next Move Strategy Consulting, MoEFCC, ANDE Global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Business Model &amp; Revenue Streams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97280" cy="32004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Transaction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5% on every B2B marketplace</a:t>
            </a:r>
            <a:br/>
            <a:r>
              <a:t>deal (buyer pays)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1097280" cy="32004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Collection Service Fee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Per-pickup service charge</a:t>
            </a:r>
            <a:br/>
            <a:r>
              <a:t>from businesses/buyers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1097280" cy="3200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Secondary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Premium Listings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Featured listings for sellers</a:t>
            </a:r>
            <a:br/>
            <a:r>
              <a:t>who want priority visibility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206240"/>
            <a:ext cx="1097280" cy="32004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EPR Compliance Credits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Verified recycling certificates</a:t>
            </a:r>
            <a:br/>
            <a:r>
              <a:t>for EPR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402336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4206240"/>
            <a:ext cx="1097280" cy="3200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663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Farmer Distribution Fee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2120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Service fee on compost-to-farmer</a:t>
            </a:r>
            <a:br/>
            <a:r>
              <a:t>bulk transactions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402336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0" y="4206240"/>
            <a:ext cx="1097280" cy="32004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663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Data &amp;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2120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Waste generation insights</a:t>
            </a:r>
            <a:br/>
            <a:r>
              <a:t>for municipalities &amp; brands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Financial Projections (3-Year)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2004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0" y="1463040"/>
            <a:ext cx="22860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22860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463040"/>
            <a:ext cx="22860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32004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Active Users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9202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10,000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75,000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9202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5,00,000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37744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Monthly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23774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3774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5,000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3774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40,000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834640"/>
            <a:ext cx="32004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Avg Transaction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8346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₹800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8346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₹1,200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8346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₹1,500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29184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Gross Merchandise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2918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₹48L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₹7.2Cr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2918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₹72Cr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749040"/>
            <a:ext cx="32004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Platform Commission (5%)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31920" y="37490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₹2.4L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7490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₹36L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7490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₹3.6Cr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20624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Collection Fees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42062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₹1.2L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2062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₹18L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0" y="42062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₹1.8Cr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663440"/>
            <a:ext cx="32004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Total Revenue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31920" y="46634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1F242A"/>
                </a:solidFill>
                <a:latin typeface="Calibri"/>
              </a:defRPr>
            </a:pPr>
            <a:r>
              <a:t>₹3.6L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6634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1F242A"/>
                </a:solidFill>
                <a:latin typeface="Calibri"/>
              </a:defRPr>
            </a:pPr>
            <a:r>
              <a:t>₹54L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03920" y="46634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1F242A"/>
                </a:solidFill>
                <a:latin typeface="Calibri"/>
              </a:defRPr>
            </a:pPr>
            <a:r>
              <a:t>₹5.4Cr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12064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Operating Cost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51206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₹12L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51206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₹40L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12064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₹3.5Cr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577840"/>
            <a:ext cx="32004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defRPr sz="1300" b="1">
                <a:solidFill>
                  <a:srgbClr val="064E3B"/>
                </a:solidFill>
                <a:latin typeface="Calibri"/>
              </a:defRPr>
            </a:pPr>
            <a:r>
              <a:t>Net Margin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55778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-₹8.4L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5778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₹14L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03920" y="557784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₹1.9Cr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669"/>
                </a:solidFill>
                <a:latin typeface="Calibri"/>
              </a:defRPr>
            </a:pPr>
            <a:r>
              <a:t>Break-even expected mid Year 2  |  10,000 active users needed for sustainability  |  Scaling to 5L users by Year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Tech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651760" cy="2926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65176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React 19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Vite 8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Tailwind CSS 4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Recharts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React Router 7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Axios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463040"/>
            <a:ext cx="2651760" cy="2926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1463040"/>
            <a:ext cx="2651760" cy="5486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1945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Java 21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Spring Boot 3.3.2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Spring Security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Spring Data JPA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Hibernate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Maven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463040"/>
            <a:ext cx="2651760" cy="2926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463040"/>
            <a:ext cx="2651760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1945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MySQL 8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JPA/Hibernate ORM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Auto DDL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463040"/>
            <a:ext cx="2651760" cy="29260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72600" y="1463040"/>
            <a:ext cx="265176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Auth &amp;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219456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JWT (JJWT 0.12.5)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Role-Based Access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CORS Config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•  5 User Roles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4E3B"/>
                </a:solidFill>
                <a:latin typeface="Calibri"/>
              </a:defRPr>
            </a:pPr>
            <a:r>
              <a:t>5 Role-Based Dashboards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  Business Seller  —  List waste, accept/reject buyers, track sales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  Business Buyer  —  Search listings, make purchase requests, track orders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  Household User  —  Request pickups, view wallet balance &amp; earnings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  Collection Agent  —  View assignments, collect waste, credit wallets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  Admin  —  Full platform overview — users, pickups, transactions, compost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ResourceLoop vs existing solutions in India's waste management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2286000" cy="41148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737360"/>
            <a:ext cx="1554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ResourceLoop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737360"/>
            <a:ext cx="155448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Kabadiwala Connect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737360"/>
            <a:ext cx="137160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Nepra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0" y="1737360"/>
            <a:ext cx="137160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Attero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737360"/>
            <a:ext cx="137160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Recykal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22860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Household Pickup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148840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148840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2148840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2148840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587752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B2B Marketplace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587752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2587752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587752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587752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587752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026664"/>
            <a:ext cx="22860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Agent Wallet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26664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3026664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026664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0" y="3026664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3026664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465576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Compost → Farmer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3465576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465576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465576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0" y="3465576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3465576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904487"/>
            <a:ext cx="22860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CO2 Impact Tracking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904487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3904487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3904487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0" y="3904487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3904487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343400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Multi-Waste Category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4343400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4343400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434340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98080" y="434340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434340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4782312"/>
            <a:ext cx="22860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Real-time Agent Matching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782312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0" y="4782312"/>
            <a:ext cx="155448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4782312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98080" y="4782312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4782312"/>
            <a:ext cx="1371600" cy="4114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" y="5221224"/>
            <a:ext cx="2286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Rate Card Payouts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5221224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0" y="5221224"/>
            <a:ext cx="15544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5221224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0" y="5221224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5221224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2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Calibri"/>
              </a:defRPr>
            </a:pPr>
            <a:r>
              <a:t>Our Edge:  Only platform offering end-to-end ecosystem — household → agent → B2B → compost → farmer — in a single product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Environmental &amp; Social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CO₂ Emissions Reduced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Per tonne of waste recycled:</a:t>
            </a:r>
            <a:br/>
            <a:r>
              <a:t>~2.5 tonnes CO₂e saved</a:t>
            </a:r>
            <a:br/>
            <a:r>
              <a:t>(UNEP estimates)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♻️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Landfill Diversion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Every household pickup</a:t>
            </a:r>
            <a:br/>
            <a:r>
              <a:t>keeps waste out of</a:t>
            </a:r>
            <a:br/>
            <a:r>
              <a:t>overflowing landfills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0" y="155448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Household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Waste becomes income —</a:t>
            </a:r>
            <a:br/>
            <a:r>
              <a:t>₹1,000–3,000/month</a:t>
            </a:r>
            <a:br/>
            <a:r>
              <a:t>potential for households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11480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Farmer 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Free/low-cost compost</a:t>
            </a:r>
            <a:br/>
            <a:r>
              <a:t>improves soil health,</a:t>
            </a:r>
            <a:br/>
            <a:r>
              <a:t>reduces chemical fertilizer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93192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0" y="411480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Informal Sector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8463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Formalizes waste workers,</a:t>
            </a:r>
            <a:br/>
            <a:r>
              <a:t>gives them digital identity</a:t>
            </a:r>
            <a:br/>
            <a:r>
              <a:t>&amp; stable earnings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93192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0" y="411480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42A"/>
                </a:solidFill>
                <a:latin typeface="Calibri"/>
              </a:defRPr>
            </a:pPr>
            <a:r>
              <a:t>EPR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463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Verified recycling data</a:t>
            </a:r>
            <a:br/>
            <a:r>
              <a:t>helps businesses meet</a:t>
            </a:r>
            <a:br/>
            <a:r>
              <a:t>EPR regulatory targets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64E3B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Phase 1  •  Q1 2026</a:t>
            </a:r>
          </a:p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MVP Launch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2651760" cy="2560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Core platform (all modules live)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Pilot in 2 cities (Mumbai, Pune)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100 households + 10 agents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Basic B2B marketplace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3716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Phase 2  •  Q2-Q3 2026</a:t>
            </a:r>
          </a:p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377440"/>
            <a:ext cx="2651760" cy="2560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56032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Expand to 10 cities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Mobile app (React Native)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EPR compliance integration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AI-powered waste sorting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Phase 3  •  Q4 2026</a:t>
            </a:r>
          </a:p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377440"/>
            <a:ext cx="2651760" cy="2560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50 cities, 100K users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Partnerships with municipalities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Carbon credit marketplace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Series A fundraising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3716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Phase 4  •  2027</a:t>
            </a:r>
          </a:p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National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2377440"/>
            <a:ext cx="2651760" cy="2560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256032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Pan-India presence (100+ cities)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International expansion (SE Asia)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IPO readiness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•  10M+ users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0B981"/>
                </a:solidFill>
                <a:latin typeface="Calibri"/>
              </a:defRPr>
            </a:pPr>
            <a:r>
              <a:t>ResourceLoop — Turning Waste into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Team Robbin Good  •  Tejas India Hackathon 2026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 b="0">
                <a:solidFill>
                  <a:srgbClr val="10B981"/>
                </a:solidFill>
                <a:latin typeface="Calibri"/>
              </a:defRPr>
            </a:pPr>
            <a:r>
              <a:t>github.com/Tejas-India-Hackathon-2026/Team-Robbin-Good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