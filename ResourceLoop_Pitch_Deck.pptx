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645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ResourceLoop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0B981"/>
                </a:solidFill>
                <a:latin typeface="Calibri"/>
              </a:defRPr>
            </a:pPr>
            <a:r>
              <a:t>Waste-to-Resource Marketplace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Connecting Households, Collection Agents, Businesses &amp; Farmers</a:t>
            </a:r>
            <a:br/>
            <a:r>
              <a:t>in the Circular Economy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66928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Tejas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India's Waste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62M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Tonnes of waste</a:t>
            </a:r>
            <a:br/>
            <a:r>
              <a:t>generated annually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200" y="146304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3800" y="1600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Calibri"/>
              </a:defRPr>
            </a:pPr>
            <a:r>
              <a:t>1,60,000+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Tonnes per day</a:t>
            </a:r>
            <a:br/>
            <a:r>
              <a:t>(MSW generation)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440" y="146304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6040" y="1600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59669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Of waste is organic</a:t>
            </a:r>
            <a:br/>
            <a:r>
              <a:t>/ biodegradable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46304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600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Goes unprocessed</a:t>
            </a:r>
            <a:br/>
            <a:r>
              <a:t>to landfills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Key Facts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India generates 55-62 MT of municipal solid waste annually - projected to reach 165 MT by 2030 (MoHUA)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Only ~30% of waste is scientifically processed; rest goes to overflowing landfills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50% of MSW is organic - a massive composting opportunity going untapped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Plastic waste: 9.4 MT/year generated, ~5.6 MT recycled through informal sector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E-waste is the fastest growing stream - 7.4% CAGR through 2031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India's 3,159 landfills hold ~800 MT of legacy waste</a:t>
            </a:r>
          </a:p>
          <a:p>
            <a:pPr algn="l">
              <a:spcBef>
                <a:spcPts val="700"/>
              </a:spcBef>
              <a:defRPr sz="1300" b="0">
                <a:solidFill>
                  <a:srgbClr val="1F242A"/>
                </a:solidFill>
                <a:latin typeface="Calibri"/>
              </a:defRPr>
            </a:pPr>
            <a:r>
              <a:t>  Circular economy potential: $2 Trillion market by 2050, 10M jobs (Env. Ministry, Feb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Our Solution - ResourceLoop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A full-stack B2B + B2C waste-to-resource marketplace connecting all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Household Pickups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Request waste collection,</a:t>
            </a:r>
            <a:br/>
            <a:r>
              <a:t>get paid via rate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B2B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Businesses list waste,</a:t>
            </a:r>
            <a:br/>
            <a:r>
              <a:t>buyers purchase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Agent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88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Collect, categorize,</a:t>
            </a:r>
            <a:br/>
            <a:r>
              <a:t>credit wallets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5262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Compost &amp; Farmer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663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Biodegradable -&gt; Compost</a:t>
            </a:r>
            <a:br/>
            <a:r>
              <a:t>-&gt; Farmers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29768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45262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Wallet &amp; Payouts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1663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Rate-card based</a:t>
            </a:r>
            <a:br/>
            <a:r>
              <a:t>instant 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4526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Impact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1663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CO2 savings tracked</a:t>
            </a:r>
            <a:br/>
            <a:r>
              <a:t>per transaction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1371600"/>
            <a:ext cx="594360" cy="59436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62763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42A"/>
                </a:solidFill>
                <a:latin typeface="Calibri"/>
              </a:defRPr>
            </a:pPr>
            <a:r>
              <a:t>Household Requests</a:t>
            </a:r>
            <a:br/>
            <a:r>
              <a:t>Pickup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Select waste type,</a:t>
            </a:r>
            <a:br/>
            <a:r>
              <a:t>category &amp; sub-type</a:t>
            </a:r>
          </a:p>
        </p:txBody>
      </p:sp>
      <p:sp>
        <p:nvSpPr>
          <p:cNvPr id="8" name="Oval 7"/>
          <p:cNvSpPr/>
          <p:nvPr/>
        </p:nvSpPr>
        <p:spPr>
          <a:xfrm>
            <a:off x="3108960" y="137160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2763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2860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42A"/>
                </a:solidFill>
                <a:latin typeface="Calibri"/>
              </a:defRPr>
            </a:pPr>
            <a:r>
              <a:t>Agent Assigned &amp;</a:t>
            </a:r>
            <a:br/>
            <a:r>
              <a:t>Collects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2918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Auto-matched by city,</a:t>
            </a:r>
            <a:br/>
            <a:r>
              <a:t>agent claims &amp; collects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2763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42A"/>
                </a:solidFill>
                <a:latin typeface="Calibri"/>
              </a:defRPr>
            </a:pPr>
            <a:r>
              <a:t>Waste Categorized</a:t>
            </a:r>
            <a:br/>
            <a:r>
              <a:t>&amp; Logged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Recyclable / Biodegradable</a:t>
            </a:r>
            <a:br/>
            <a:r>
              <a:t>+ actual quantity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137160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162763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2860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42A"/>
                </a:solidFill>
                <a:latin typeface="Calibri"/>
              </a:defRPr>
            </a:pPr>
            <a:r>
              <a:t>Wallet Credited</a:t>
            </a:r>
            <a:br/>
            <a:r>
              <a:t>Instantly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918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Payout per rate card</a:t>
            </a:r>
            <a:br/>
            <a:r>
              <a:t>Rs 1-25/kg</a:t>
            </a:r>
          </a:p>
        </p:txBody>
      </p:sp>
      <p:sp>
        <p:nvSpPr>
          <p:cNvPr id="20" name="Oval 19"/>
          <p:cNvSpPr/>
          <p:nvPr/>
        </p:nvSpPr>
        <p:spPr>
          <a:xfrm>
            <a:off x="8458200" y="13716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62763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22860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42A"/>
                </a:solidFill>
                <a:latin typeface="Calibri"/>
              </a:defRPr>
            </a:pPr>
            <a:r>
              <a:t>B2B Marketplace</a:t>
            </a:r>
            <a:br/>
            <a:r>
              <a:t>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2918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Businesses list waste,</a:t>
            </a:r>
            <a:br/>
            <a:r>
              <a:t>buyers purchase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13716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2860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42A"/>
                </a:solidFill>
                <a:latin typeface="Calibri"/>
              </a:defRPr>
            </a:pPr>
            <a:r>
              <a:t>Compost to Farmer</a:t>
            </a:r>
            <a:br/>
            <a:r>
              <a:t>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2918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Biodegradable waste</a:t>
            </a:r>
            <a:br/>
            <a:r>
              <a:t>-&gt; Compost -&gt; Farmers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B2B Transaction Flow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B7280"/>
                </a:solidFill>
                <a:latin typeface="Calibri"/>
              </a:defRPr>
            </a:pPr>
            <a:r>
              <a:t>Seller lists waste -&gt; Buyer sends purchase request -&gt; Seller accepts (auto-rejects others) -&gt; Quantity validated -&gt; 5% commission -&gt; CO2 tracked</a:t>
            </a:r>
          </a:p>
          <a:p>
            <a:pPr algn="l">
              <a:spcBef>
                <a:spcPts val="1000"/>
              </a:spcBef>
              <a:defRPr sz="1200" b="1">
                <a:solidFill>
                  <a:srgbClr val="059669"/>
                </a:solidFill>
                <a:latin typeface="Calibri"/>
              </a:defRPr>
            </a:pPr>
            <a:r>
              <a:t>Rate Card:  PLASTIC Rs 12/kg  |  METAL Rs 25/kg  |  PAPER Rs 6/kg  |  E-WASTE Rs 15/kg  |  FOOD WASTE Rs 2/kg  |  GARDEN WASTE Rs 1/kg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63040"/>
            <a:ext cx="3840480" cy="3840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$14.3B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FFFFFF"/>
                </a:solidFill>
                <a:latin typeface="Calibri"/>
              </a:defRPr>
            </a:pPr>
            <a:r>
              <a:t>India Waste Management</a:t>
            </a:r>
            <a:br/>
            <a:r>
              <a:t>Market (2026)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2560320"/>
            <a:ext cx="2926080" cy="2926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566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$7.0B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FFFFFF"/>
                </a:solidFill>
                <a:latin typeface="Calibri"/>
              </a:defRPr>
            </a:pPr>
            <a:r>
              <a:t>Waste Recycling Services</a:t>
            </a:r>
            <a:br/>
            <a:r>
              <a:t>Market (India)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3657600"/>
            <a:ext cx="2011680" cy="20116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4206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$350M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SOM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FFFFFF"/>
                </a:solidFill>
                <a:latin typeface="Calibri"/>
              </a:defRPr>
            </a:pPr>
            <a:r>
              <a:t>Addressable B2B+B2C</a:t>
            </a:r>
            <a:br/>
            <a:r>
              <a:t>Marketplace (5%)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4E3B"/>
                </a:solidFill>
                <a:latin typeface="Calibri"/>
              </a:defRPr>
            </a:pPr>
            <a:r>
              <a:t>5.8%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38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Waste Management Market 2026-2031</a:t>
            </a:r>
            <a:br/>
            <a:r>
              <a:t>(Mordor Intelligence)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69748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8072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4E3B"/>
                </a:solidFill>
                <a:latin typeface="Calibri"/>
              </a:defRPr>
            </a:pPr>
            <a:r>
              <a:t>9.6%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1729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Waste Recycling Services 2025-2033</a:t>
            </a:r>
            <a:br/>
            <a:r>
              <a:t>(Grand View Research)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416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4E3B"/>
                </a:solidFill>
                <a:latin typeface="Calibri"/>
              </a:defRPr>
            </a:pPr>
            <a:r>
              <a:t>$2 Trillion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4074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India Circular Economy</a:t>
            </a:r>
            <a:br/>
            <a:r>
              <a:t>potential by 2050 (MoEFCC)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16636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276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4E3B"/>
                </a:solidFill>
                <a:latin typeface="Calibri"/>
              </a:defRPr>
            </a:pPr>
            <a:r>
              <a:t>10M 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641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Circular Economy</a:t>
            </a:r>
            <a:br/>
            <a:r>
              <a:t>employment potential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Sources: Mordor Intelligence, Grand View Research, Next Move Strategy Consulting, MoEFCC, ANDE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Business Model &amp; Revenue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Transaction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5% on every B2B marketplace</a:t>
            </a:r>
            <a:br/>
            <a:r>
              <a:t>deal (buyer pays)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Collection Service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Per-pickup service charge</a:t>
            </a:r>
            <a:br/>
            <a:r>
              <a:t>from businesses/buyers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Premium 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Featured listings for sellers</a:t>
            </a:r>
            <a:br/>
            <a:r>
              <a:t>who want priority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20624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EPR Compliance Credits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Verified recycling certificates</a:t>
            </a:r>
            <a:br/>
            <a:r>
              <a:t>for EPR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02336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7720" y="420624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Farmer Distribution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Service fee on compost-to-farmer</a:t>
            </a:r>
            <a:br/>
            <a:r>
              <a:t>bulk transactions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02336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420624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42A"/>
                </a:solidFill>
                <a:latin typeface="Calibri"/>
              </a:defRPr>
            </a:pPr>
            <a:r>
              <a:t>Data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Waste generation insights</a:t>
            </a:r>
            <a:br/>
            <a:r>
              <a:t>for municipalities &amp; brands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Financial Projections (3-Year)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347472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463040"/>
            <a:ext cx="228600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228600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463040"/>
            <a:ext cx="228600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Active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10,000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9202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75,000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9202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5,00,000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3774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Monthly Transactions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3774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3774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3774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40,000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283464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Avg Transaction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8346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8346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1,200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28346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1,500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2918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Gross Merchandise Value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2918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48L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2918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7.2Cr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32918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72Cr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74904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749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Platform Commission (5%)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80" y="37490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2.4L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7490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36L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37490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0" y="3749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3.6Cr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42062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Collection Fees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80" y="42062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1.2L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2062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18L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42062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1.8Cr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466344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Total Revenue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97680" y="46634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>
                <a:solidFill>
                  <a:srgbClr val="1F242A"/>
                </a:solidFill>
                <a:latin typeface="Calibri"/>
              </a:defRPr>
            </a:pPr>
            <a:r>
              <a:t>Rs 3.6L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6634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>
                <a:solidFill>
                  <a:srgbClr val="1F242A"/>
                </a:solidFill>
                <a:latin typeface="Calibri"/>
              </a:defRPr>
            </a:pPr>
            <a:r>
              <a:t>Rs 54L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46634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6112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>
                <a:solidFill>
                  <a:srgbClr val="1F242A"/>
                </a:solidFill>
                <a:latin typeface="Calibri"/>
              </a:defRPr>
            </a:pPr>
            <a:r>
              <a:t>Rs 5.4Cr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51206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5120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Operating Cost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80" y="51206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0" y="5120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12L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51206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5120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40L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9680" y="51206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61120" y="5120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3.5Cr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" y="557784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1">
                <a:solidFill>
                  <a:srgbClr val="064E3B"/>
                </a:solidFill>
                <a:latin typeface="Calibri"/>
              </a:defRPr>
            </a:pPr>
            <a:r>
              <a:t>Net Margin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97680" y="55778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0" y="5577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-Rs 8.4L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55778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0" y="5577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14L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9680" y="5577840"/>
            <a:ext cx="22860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61120" y="5577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Rs 1.9Cr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Break-even expected mid Year 2  |  10,000 active users needed for sustainability  |  Scaling to 5L users by Year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Tech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24688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React 19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Vite 8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Tailwind CSS 4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Recharts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React Router 7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Axios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200" y="146304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5200" y="1463040"/>
            <a:ext cx="246888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210312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Java 21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Spring Boot 3.3.2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Spring Security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Spring Data JPA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Hibernate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Maven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440" y="146304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7440" y="1463040"/>
            <a:ext cx="24688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210312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MySQL 8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JPA/Hibernate ORM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Auto DDL Migration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ACID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46304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1463040"/>
            <a:ext cx="24688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Auth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0312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JWT (JJWT 0.12.5)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Role-Based Access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CORS Config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5 User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4E3B"/>
                </a:solidFill>
                <a:latin typeface="Calibri"/>
              </a:defRPr>
            </a:pPr>
            <a:r>
              <a:t>5 Role-Based Dashboards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Business Seller  -  List waste, accept/reject buyers, track sales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Business Buyer  -  Search listings, make purchase requests, track orders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Household User  -  Request pickups, view wallet balance &amp; earnings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Collection Agent  -  View assignments, collect waste, credit wallets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Admin  -  Full platform overview - users, pickups, transactions, compost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ResourceLoop vs existing solutions in India's waste management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01168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173736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ResourceLoop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155448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Kabadiwala</a:t>
            </a:r>
            <a:br/>
            <a:r>
              <a:t>Connect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12801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828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Nepra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828800"/>
            <a:ext cx="12801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828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Attero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828800"/>
            <a:ext cx="12801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828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Recykal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286000"/>
            <a:ext cx="20116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Household Pickup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286000"/>
            <a:ext cx="17373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286000"/>
            <a:ext cx="15544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2860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2860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2860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B2B Marketplace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43200"/>
            <a:ext cx="1737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74320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743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432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27432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7432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200400"/>
            <a:ext cx="20116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Agent Wallet System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200400"/>
            <a:ext cx="17373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200400"/>
            <a:ext cx="15544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200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2004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200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32004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3200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2004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3200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5760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Compost to Farmer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3657600"/>
            <a:ext cx="1737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3657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65760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0" y="3657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6576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36576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6576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" y="4114800"/>
            <a:ext cx="20116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CO2 Impact Tracking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40" y="4114800"/>
            <a:ext cx="17373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34640" y="4114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4114800"/>
            <a:ext cx="15544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0" y="4114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41148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41148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4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41148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" y="457200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Multi-Waste Category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40" y="4572000"/>
            <a:ext cx="1737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34640" y="4572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57200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0" y="4572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0" y="45720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2648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06640" y="45720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0664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5720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8680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5029200"/>
            <a:ext cx="20116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Agent Matching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34640" y="5029200"/>
            <a:ext cx="17373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34640" y="5029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5029200"/>
            <a:ext cx="15544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50292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26480" y="5029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06640" y="50292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06640" y="5029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686800" y="5029200"/>
            <a:ext cx="12801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86800" y="5029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548640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960" y="5486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064E3B"/>
                </a:solidFill>
                <a:latin typeface="Calibri"/>
              </a:defRPr>
            </a:pPr>
            <a:r>
              <a:t>Rate Card Payouts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34640" y="5486400"/>
            <a:ext cx="1737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34640" y="548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48640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26480" y="54864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26480" y="5486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06640" y="54864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06640" y="5486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86800" y="54864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686800" y="5486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0">
                <a:solidFill>
                  <a:srgbClr val="6B72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Our Edge: Only platform with end-to-end ecosystem - household -&gt; agent -&gt; B2B -&gt; compost -&gt; farmer - in a single product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Environmental &amp; Social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42A"/>
                </a:solidFill>
                <a:latin typeface="Calibri"/>
              </a:defRPr>
            </a:pPr>
            <a:r>
              <a:t>CO2 Emissions Reduced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Per tonne of waste recycled:</a:t>
            </a:r>
            <a:br/>
            <a:r>
              <a:t>~2.5 tonnes CO2e saved</a:t>
            </a:r>
            <a:br/>
            <a:r>
              <a:t>(UNEP estimates)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64592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42A"/>
                </a:solidFill>
                <a:latin typeface="Calibri"/>
              </a:defRPr>
            </a:pPr>
            <a:r>
              <a:t>Landfill Diversion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Every household pickup</a:t>
            </a:r>
            <a:br/>
            <a:r>
              <a:t>keeps waste out of</a:t>
            </a:r>
            <a:br/>
            <a:r>
              <a:t>overflowing landfills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42A"/>
                </a:solidFill>
                <a:latin typeface="Calibri"/>
              </a:defRPr>
            </a:pPr>
            <a:r>
              <a:t>Household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Waste becomes income:</a:t>
            </a:r>
            <a:br/>
            <a:r>
              <a:t>Rs 1,000-3,000/month</a:t>
            </a:r>
            <a:br/>
            <a:r>
              <a:t>potential for households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42A"/>
                </a:solidFill>
                <a:latin typeface="Calibri"/>
              </a:defRPr>
            </a:pPr>
            <a:r>
              <a:t>Farmer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Free/low-cost compost</a:t>
            </a:r>
            <a:br/>
            <a:r>
              <a:t>improves soil health,</a:t>
            </a:r>
            <a:br/>
            <a:r>
              <a:t>reduces chemical fertilizer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9319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41148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42A"/>
                </a:solidFill>
                <a:latin typeface="Calibri"/>
              </a:defRPr>
            </a:pPr>
            <a:r>
              <a:t>Informal Sector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Formalizes waste workers,</a:t>
            </a:r>
            <a:br/>
            <a:r>
              <a:t>gives them digital identity</a:t>
            </a:r>
            <a:br/>
            <a:r>
              <a:t>&amp; stable earnings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42A"/>
                </a:solidFill>
                <a:latin typeface="Calibri"/>
              </a:defRPr>
            </a:pPr>
            <a:r>
              <a:t>EPR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09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Verified recycling data</a:t>
            </a:r>
            <a:br/>
            <a:r>
              <a:t>helps businesses meet</a:t>
            </a:r>
            <a:br/>
            <a:r>
              <a:t>EPR regulatory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4E3B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  -  Q1 2026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MVP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468880" cy="25603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Core platform (all modules)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Pilot in 2 cities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100 households + 10 agents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Basic B2B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200" y="137160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  -  Q2-Q3 2026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200" y="2377440"/>
            <a:ext cx="2468880" cy="25603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8080" y="256032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Expand to 10 cities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Mobile app (React Native)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EPR compliance integration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AI-powered waste sorting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440" y="137160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  -  Q4 2026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440" y="2377440"/>
            <a:ext cx="2468880" cy="25603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320" y="256032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50 cities, 100K users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Municipal partnerships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Carbon credit marketplace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Series A fundraising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37160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  -  2027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377440"/>
            <a:ext cx="2468880" cy="25603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56032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Pan-India (100+ cities)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SE Asia expansion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IPO readiness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1F242A"/>
                </a:solidFill>
                <a:latin typeface="Calibri"/>
              </a:defRPr>
            </a:pPr>
            <a:r>
              <a:t>  10M+ users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ResourceLoop - Turning Waste into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Team Robbin Good  -  Tejas India Hackathon 2026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10B981"/>
                </a:solidFill>
                <a:latin typeface="Calibri"/>
              </a:defRPr>
            </a:pPr>
            <a:r>
              <a:t>github.com/Tejas-India-Hackathon-2026/Team-Robbin-Good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