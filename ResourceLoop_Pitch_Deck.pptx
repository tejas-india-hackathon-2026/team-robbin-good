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4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1828800"/>
            <a:ext cx="164592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Calibri"/>
              </a:defRPr>
            </a:pPr>
            <a:r>
              <a:t>ResourceLoop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10B981"/>
                </a:solidFill>
                <a:latin typeface="Calibri"/>
              </a:defRPr>
            </a:pPr>
            <a:r>
              <a:t>Waste-to-Resource Marketplace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1148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280"/>
                </a:solidFill>
                <a:latin typeface="Calibri"/>
              </a:defRPr>
            </a:pPr>
            <a:r>
              <a:t>Connecting Households, Collection Agents, Businesses &amp; Farmers</a:t>
            </a:r>
            <a:br/>
            <a:r>
              <a:t>in the Circular Economy Lifecycle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5303520"/>
            <a:ext cx="3200400" cy="457200"/>
          </a:xfrm>
          <a:prstGeom prst="roundRect">
            <a:avLst>
              <a:gd name="adj" fmla="val 15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Calibri"/>
              </a:defRPr>
            </a:pPr>
            <a:r>
              <a:t>Tejas India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303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10B981"/>
                </a:solidFill>
                <a:latin typeface="Calibri"/>
              </a:defRPr>
            </a:pPr>
            <a:r>
              <a:t>Team Robbin Good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64E3B"/>
                </a:solidFill>
                <a:latin typeface="Calibri"/>
              </a:defRPr>
            </a:pPr>
            <a:r>
              <a:t>India's Waste Crisis - The Problem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2423160" cy="13716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C2626"/>
                </a:solidFill>
                <a:latin typeface="Calibri"/>
              </a:defRPr>
            </a:pPr>
            <a:r>
              <a:t>62M Tonnes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Generated annually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1463040"/>
            <a:ext cx="2423160" cy="13716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03320" y="155448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59E0B"/>
                </a:solidFill>
                <a:latin typeface="Calibri"/>
              </a:defRPr>
            </a:pPr>
            <a:r>
              <a:t>1.6 Lakh TPD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210312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Daily MSW generation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2423160" cy="13716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5448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59669"/>
                </a:solidFill>
                <a:latin typeface="Calibri"/>
              </a:defRPr>
            </a:pPr>
            <a:r>
              <a:t>50% Organic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Wentepending compost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5400" y="1463040"/>
            <a:ext cx="2423160" cy="13716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98280" y="155448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C2626"/>
                </a:solidFill>
                <a:latin typeface="Calibri"/>
              </a:defRPr>
            </a:pPr>
            <a:r>
              <a:t>30% Unprocessed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8280" y="210312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Ends up in landfills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108960"/>
            <a:ext cx="10515600" cy="2743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29184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64E3B"/>
                </a:solidFill>
                <a:latin typeface="Calibri"/>
              </a:defRPr>
            </a:pPr>
            <a:r>
              <a:t>Why This Matters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  55-62 MT of MSW generated annually - projected 165 MT by 2030 (MoHUA)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  Only ~30% scientifically processed; rest overflows landfills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  Plastic: 9.4 MT/yr generated, ~5.6 MT recycled via informal sector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  E-waste fastest growing stream - 7.4% CAGR through 2031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  3,159 landfills hold ~800 MT of legacy waste (ANDE Global)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  Circular economy potential: $2T market by 2050, 10M jobs (MoEFCC Feb 2025)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F242A"/>
                </a:solidFill>
                <a:latin typeface="Calibri"/>
              </a:defRPr>
            </a:pPr>
            <a:r>
              <a:t>  India's urban population to hit 600M by 2030, waste will triple (MoHUA)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64E3B"/>
                </a:solidFill>
                <a:latin typeface="Calibri"/>
              </a:defRPr>
            </a:pPr>
            <a:r>
              <a:t>Market Opportunity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3200400" cy="1828800"/>
          </a:xfrm>
          <a:prstGeom prst="roundRect">
            <a:avLst>
              <a:gd name="adj" fmla="val 8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$14.3B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Calibri"/>
              </a:defRPr>
            </a:pPr>
            <a:r>
              <a:t>India Waste Mgmt</a:t>
            </a:r>
            <a:br/>
            <a:r>
              <a:t>Market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371600"/>
            <a:ext cx="3200400" cy="1828800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0" y="14630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$7.0B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011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4688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Calibri"/>
              </a:defRPr>
            </a:pPr>
            <a:r>
              <a:t>Waste Recycling</a:t>
            </a:r>
            <a:br/>
            <a:r>
              <a:t>Services India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371600"/>
            <a:ext cx="3200400" cy="1828800"/>
          </a:xfrm>
          <a:prstGeom prst="roundRect">
            <a:avLst>
              <a:gd name="adj" fmla="val 8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4630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$350M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2011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4688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Calibri"/>
              </a:defRPr>
            </a:pPr>
            <a:r>
              <a:t>Addressable</a:t>
            </a:r>
            <a:br/>
            <a:r>
              <a:t>B2B+B2C (5%)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474720"/>
            <a:ext cx="10515600" cy="2743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65760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64E3B"/>
                </a:solidFill>
                <a:latin typeface="Calibri"/>
              </a:defRPr>
            </a:pPr>
            <a:r>
              <a:t>Key Market Drivers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5.8% CAGR - India Waste Management Market 2026-2031 (Mordor Intelligence)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9.6% CAGR - Waste Recycling Services India 2025-2033 (Grand View Research)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6.0% CAGR - Solid Waste Management 2026-2034 (IMARC Group)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Swachh Bharat Mission 2.0 driving infrastructure investment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EPR mandates forcing businesses to adopt formal recycling channels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77% of waste startups have &lt;$2M funding - massive early-stage opportunity (ANDE)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217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Sources: Mordor Intelligence, Grand View Research, IMARC Group, ANDE Global, MoEFCC, MoHUA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64E3B"/>
                </a:solidFill>
                <a:latin typeface="Calibri"/>
              </a:defRPr>
            </a:pPr>
            <a:r>
              <a:t>Our Solution - ResourceLoop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A full-stack B2B + B2C waste-to-resource marketplace - the only platform connecting the entire circular economy chain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3322320" cy="201168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828800"/>
            <a:ext cx="411480" cy="411480"/>
          </a:xfrm>
          <a:prstGeom prst="ellipse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828800"/>
            <a:ext cx="2316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42A"/>
                </a:solidFill>
                <a:latin typeface="Calibri"/>
              </a:defRPr>
            </a:pPr>
            <a:r>
              <a:t>Household Pickups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2956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Request waste collection,</a:t>
            </a:r>
            <a:br/>
            <a:r>
              <a:t>get paid via rate card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9600" y="1645920"/>
            <a:ext cx="3322320" cy="201168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02480" y="1828800"/>
            <a:ext cx="411480" cy="41148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96840" y="1828800"/>
            <a:ext cx="2316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42A"/>
                </a:solidFill>
                <a:latin typeface="Calibri"/>
              </a:defRPr>
            </a:pPr>
            <a:r>
              <a:t>B2B Marketplace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2480" y="2423160"/>
            <a:ext cx="2956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Businesses list waste,</a:t>
            </a:r>
            <a:br/>
            <a:r>
              <a:t>buyers purchase &amp; trade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6240" y="1645920"/>
            <a:ext cx="3322320" cy="201168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99120" y="182880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93480" y="1828800"/>
            <a:ext cx="2316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42A"/>
                </a:solidFill>
                <a:latin typeface="Calibri"/>
              </a:defRPr>
            </a:pPr>
            <a:r>
              <a:t>Agent Workflow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9120" y="2423160"/>
            <a:ext cx="2956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Collect, categorize,</a:t>
            </a:r>
            <a:br/>
            <a:r>
              <a:t>credit wallets instantly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931920"/>
            <a:ext cx="3322320" cy="201168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411480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114800"/>
            <a:ext cx="2316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42A"/>
                </a:solidFill>
                <a:latin typeface="Calibri"/>
              </a:defRPr>
            </a:pPr>
            <a:r>
              <a:t>Compost &amp; Farmer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709160"/>
            <a:ext cx="2956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Biodegradable -&gt; Compost</a:t>
            </a:r>
            <a:br/>
            <a:r>
              <a:t>-&gt; Farmers get soil input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19600" y="3931920"/>
            <a:ext cx="3322320" cy="201168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02480" y="411480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6840" y="4114800"/>
            <a:ext cx="2316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42A"/>
                </a:solidFill>
                <a:latin typeface="Calibri"/>
              </a:defRPr>
            </a:pPr>
            <a:r>
              <a:t>Wallet &amp; Payouts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2480" y="4709160"/>
            <a:ext cx="2956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Rate-card based instant</a:t>
            </a:r>
            <a:br/>
            <a:r>
              <a:t>payments to households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16240" y="3931920"/>
            <a:ext cx="3322320" cy="201168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99120" y="4114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93480" y="4114800"/>
            <a:ext cx="2316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42A"/>
                </a:solidFill>
                <a:latin typeface="Calibri"/>
              </a:defRPr>
            </a:pPr>
            <a:r>
              <a:t>Impact Dashboard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99120" y="4709160"/>
            <a:ext cx="2956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CO2 savings tracked</a:t>
            </a:r>
            <a:br/>
            <a:r>
              <a:t>per transaction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64E3B"/>
                </a:solidFill>
                <a:latin typeface="Calibri"/>
              </a:defRPr>
            </a:pPr>
            <a:r>
              <a:t>How It Works - End-to-End Flow</a:t>
            </a:r>
          </a:p>
        </p:txBody>
      </p:sp>
      <p:sp>
        <p:nvSpPr>
          <p:cNvPr id="4" name="Oval 3"/>
          <p:cNvSpPr/>
          <p:nvPr/>
        </p:nvSpPr>
        <p:spPr>
          <a:xfrm>
            <a:off x="1329690" y="1188720"/>
            <a:ext cx="548640" cy="548640"/>
          </a:xfrm>
          <a:prstGeom prst="ellipse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defRPr sz="20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2403348" y="1417320"/>
            <a:ext cx="210312" cy="36576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5621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F242A"/>
                </a:solidFill>
                <a:latin typeface="Calibri"/>
              </a:defRPr>
            </a:pPr>
            <a:r>
              <a:t>Household</a:t>
            </a:r>
            <a:br/>
            <a:r>
              <a:t>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5621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Select waste type</a:t>
            </a:r>
            <a:br/>
            <a:r>
              <a:t>&amp; sub-type</a:t>
            </a:r>
          </a:p>
        </p:txBody>
      </p:sp>
      <p:sp>
        <p:nvSpPr>
          <p:cNvPr id="8" name="Oval 7"/>
          <p:cNvSpPr/>
          <p:nvPr/>
        </p:nvSpPr>
        <p:spPr>
          <a:xfrm>
            <a:off x="3120390" y="1188720"/>
            <a:ext cx="548640" cy="54864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defRPr sz="20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4194048" y="1417320"/>
            <a:ext cx="210312" cy="36576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13660" y="2011680"/>
            <a:ext cx="15621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F242A"/>
                </a:solidFill>
                <a:latin typeface="Calibri"/>
              </a:defRPr>
            </a:pPr>
            <a:r>
              <a:t>Agent</a:t>
            </a:r>
            <a:br/>
            <a:r>
              <a:t>Assigned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3660" y="2834640"/>
            <a:ext cx="15621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City-based auto-</a:t>
            </a:r>
            <a:br/>
            <a:r>
              <a:t>match &amp; claim</a:t>
            </a:r>
          </a:p>
        </p:txBody>
      </p:sp>
      <p:sp>
        <p:nvSpPr>
          <p:cNvPr id="12" name="Oval 11"/>
          <p:cNvSpPr/>
          <p:nvPr/>
        </p:nvSpPr>
        <p:spPr>
          <a:xfrm>
            <a:off x="4911090" y="11887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defRPr sz="20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4748" y="1417320"/>
            <a:ext cx="210312" cy="36576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4360" y="2011680"/>
            <a:ext cx="15621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F242A"/>
                </a:solidFill>
                <a:latin typeface="Calibri"/>
              </a:defRPr>
            </a:pPr>
            <a:r>
              <a:t>Waste</a:t>
            </a:r>
            <a:br/>
            <a:r>
              <a:t>Categorized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4360" y="2834640"/>
            <a:ext cx="15621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Recyclable/</a:t>
            </a:r>
            <a:br/>
            <a:r>
              <a:t>Biodegradable</a:t>
            </a:r>
          </a:p>
        </p:txBody>
      </p:sp>
      <p:sp>
        <p:nvSpPr>
          <p:cNvPr id="16" name="Oval 15"/>
          <p:cNvSpPr/>
          <p:nvPr/>
        </p:nvSpPr>
        <p:spPr>
          <a:xfrm>
            <a:off x="6701790" y="1188720"/>
            <a:ext cx="548640" cy="5486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defRPr sz="20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5448" y="1417320"/>
            <a:ext cx="210312" cy="36576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5060" y="2011680"/>
            <a:ext cx="15621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F242A"/>
                </a:solidFill>
                <a:latin typeface="Calibri"/>
              </a:defRPr>
            </a:pPr>
            <a:r>
              <a:t>Wallet</a:t>
            </a:r>
            <a:br/>
            <a:r>
              <a:t>Credited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5060" y="2834640"/>
            <a:ext cx="15621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Rate card payout</a:t>
            </a:r>
            <a:br/>
            <a:r>
              <a:t>Rs 1-25/kg</a:t>
            </a:r>
          </a:p>
        </p:txBody>
      </p:sp>
      <p:sp>
        <p:nvSpPr>
          <p:cNvPr id="20" name="Oval 19"/>
          <p:cNvSpPr/>
          <p:nvPr/>
        </p:nvSpPr>
        <p:spPr>
          <a:xfrm>
            <a:off x="8492490" y="11887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defRPr sz="20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66148" y="1417320"/>
            <a:ext cx="210312" cy="36576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85760" y="2011680"/>
            <a:ext cx="15621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F242A"/>
                </a:solidFill>
                <a:latin typeface="Calibri"/>
              </a:defRPr>
            </a:pPr>
            <a:r>
              <a:t>B2B</a:t>
            </a:r>
            <a:br/>
            <a:r>
              <a:t>Listing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85760" y="2834640"/>
            <a:ext cx="15621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Businesses list</a:t>
            </a:r>
            <a:br/>
            <a:r>
              <a:t>for buyers</a:t>
            </a:r>
          </a:p>
        </p:txBody>
      </p:sp>
      <p:sp>
        <p:nvSpPr>
          <p:cNvPr id="24" name="Oval 23"/>
          <p:cNvSpPr/>
          <p:nvPr/>
        </p:nvSpPr>
        <p:spPr>
          <a:xfrm>
            <a:off x="10283190" y="11887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defRPr sz="20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76460" y="2011680"/>
            <a:ext cx="15621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F242A"/>
                </a:solidFill>
                <a:latin typeface="Calibri"/>
              </a:defRPr>
            </a:pPr>
            <a:r>
              <a:t>Compost</a:t>
            </a:r>
            <a:br/>
            <a:r>
              <a:t>Distribution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76460" y="2834640"/>
            <a:ext cx="15621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Biodegradable to</a:t>
            </a:r>
            <a:br/>
            <a:r>
              <a:t>farmers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3840480"/>
            <a:ext cx="10515600" cy="2743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02336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64E3B"/>
                </a:solidFill>
                <a:latin typeface="Calibri"/>
              </a:defRPr>
            </a:pPr>
            <a:r>
              <a:t>B2B Transaction Flow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Seller lists waste inventory -&gt; Buyer searches &amp; sends purchase request -&gt; Seller accepts (auto-rejects other pending requests) -&gt; Quantity validated &amp; deducted from listing -&gt; 5% platform commission collected -&gt; CO2 savings calculated &amp; displayed</a:t>
            </a:r>
          </a:p>
          <a:p>
            <a:pPr algn="l">
              <a:spcBef>
                <a:spcPts val="1200"/>
              </a:spcBef>
              <a:defRPr sz="1200" b="1">
                <a:solidFill>
                  <a:srgbClr val="059669"/>
                </a:solidFill>
                <a:latin typeface="Calibri"/>
              </a:defRPr>
            </a:pPr>
            <a:r>
              <a:t>Rate Card:  PLASTIC Rs 12/kg  |  METAL Rs 25/kg  |  PAPER Rs 6/kg  |  E-WASTE Rs 15/kg  |  FOOD WASTE Rs 2/kg  |  GARDEN WASTE Rs 1/kg  |  OTHER Rs 0.50/kg</a:t>
            </a:r>
          </a:p>
          <a:p>
            <a:pPr algn="l">
              <a:spcBef>
                <a:spcPts val="1000"/>
              </a:spcBef>
              <a:defRPr sz="1100" b="1">
                <a:solidFill>
                  <a:srgbClr val="DC2626"/>
                </a:solidFill>
                <a:latin typeface="Calibri"/>
              </a:defRPr>
            </a:pPr>
            <a:r>
              <a:t>Key Feature: When a seller accepts one request, all other pending requests for the same listing are auto-rejected. Quantity is validated to prevent overselling.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64E3B"/>
                </a:solidFill>
                <a:latin typeface="Calibri"/>
              </a:defRPr>
            </a:pPr>
            <a:r>
              <a:t>Module A - Household Waste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Streamlined pickup requests with automatic agent matching by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5029200" cy="22860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463040"/>
            <a:ext cx="5029200" cy="45720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Calibri"/>
              </a:defRPr>
            </a:pPr>
            <a:r>
              <a:t>Household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Request pickup with waste type &amp; sub-type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Auto-assigned to agent in same city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Agent claims self-assignment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Collects waste with actual quantity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Wallet credited instantly via rate card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Track all requests in dashboard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023360"/>
            <a:ext cx="5029200" cy="22860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4023360"/>
            <a:ext cx="5029200" cy="45720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Calibri"/>
              </a:defRPr>
            </a:pPr>
            <a:r>
              <a:t>Rate Card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5720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PLASTIC: Rs 12/kg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METAL: Rs 25/kg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PAPER: Rs 6/kg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E-WASTE: Rs 15/kg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FOOD WASTE: Rs 2/kg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GARDEN WASTE: Rs 1/kg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463040"/>
            <a:ext cx="5029200" cy="475488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463040"/>
            <a:ext cx="5029200" cy="457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Calibri"/>
              </a:defRPr>
            </a:pPr>
            <a:r>
              <a:t>Agent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10312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4E3B"/>
                </a:solidFill>
                <a:latin typeface="Calibri"/>
              </a:defRPr>
            </a:pPr>
            <a:r>
              <a:t>Agent Capabilities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View all assigned pickups in their city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Claim unassigned pickups via self-assignment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Collect waste with category + sub-type + actual quantity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Bonus credit: add extra wallet credit during collection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Standalone wallet credit (ad-hoc without pickup)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Search household by phone number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View pending vs completed pickup breakdown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Auto-create CollectionAgent record on registration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64E3B"/>
                </a:solidFill>
                <a:latin typeface="Calibri"/>
              </a:defRPr>
            </a:pPr>
            <a:r>
              <a:t>Module B - Waste Categorization &amp; Sorting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Two-tier categorization system with sub-type level tracking for precise resource recovery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3352800" cy="21031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60120" y="1600200"/>
            <a:ext cx="1463040" cy="274320"/>
          </a:xfrm>
          <a:prstGeom prst="roundRect">
            <a:avLst>
              <a:gd name="adj" fmla="val 20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900" b="1">
                <a:solidFill>
                  <a:srgbClr val="FFFFFF"/>
                </a:solidFill>
                <a:latin typeface="Calibri"/>
              </a:defRPr>
            </a:pPr>
            <a:r>
              <a:t>RECYCLABLE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307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F242A"/>
                </a:solidFill>
                <a:latin typeface="Calibri"/>
              </a:defRPr>
            </a:pPr>
            <a:r>
              <a:t>PLASTIC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60320"/>
            <a:ext cx="307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  <a:latin typeface="Calibri"/>
              </a:defRPr>
            </a:pPr>
            <a:r>
              <a:t>Rate: Rs 12/kg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26080"/>
            <a:ext cx="307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Categorized and sorted for</a:t>
            </a:r>
            <a:br/>
            <a:r>
              <a:t>recycling facilities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4360" y="1463040"/>
            <a:ext cx="3352800" cy="21031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41520" y="1600200"/>
            <a:ext cx="1463040" cy="274320"/>
          </a:xfrm>
          <a:prstGeom prst="roundRect">
            <a:avLst>
              <a:gd name="adj" fmla="val 20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900" b="1">
                <a:solidFill>
                  <a:srgbClr val="FFFFFF"/>
                </a:solidFill>
                <a:latin typeface="Calibri"/>
              </a:defRPr>
            </a:pPr>
            <a:r>
              <a:t>RECYCLABLE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1520" y="2011680"/>
            <a:ext cx="307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F242A"/>
                </a:solidFill>
                <a:latin typeface="Calibri"/>
              </a:defRPr>
            </a:pPr>
            <a:r>
              <a:t>METAL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1520" y="2560320"/>
            <a:ext cx="307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C3AED"/>
                </a:solidFill>
                <a:latin typeface="Calibri"/>
              </a:defRPr>
            </a:pPr>
            <a:r>
              <a:t>Rate: Rs 25/kg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1520" y="2926080"/>
            <a:ext cx="307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Categorized and sorted for</a:t>
            </a:r>
            <a:br/>
            <a:r>
              <a:t>recycling facilities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85760" y="1463040"/>
            <a:ext cx="3352800" cy="21031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22920" y="1600200"/>
            <a:ext cx="1463040" cy="274320"/>
          </a:xfrm>
          <a:prstGeom prst="roundRect">
            <a:avLst>
              <a:gd name="adj" fmla="val 20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900" b="1">
                <a:solidFill>
                  <a:srgbClr val="FFFFFF"/>
                </a:solidFill>
                <a:latin typeface="Calibri"/>
              </a:defRPr>
            </a:pPr>
            <a:r>
              <a:t>RECYCLABLE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2920" y="2011680"/>
            <a:ext cx="307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F242A"/>
                </a:solidFill>
                <a:latin typeface="Calibri"/>
              </a:defRPr>
            </a:pPr>
            <a:r>
              <a:t>PAPER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2920" y="2560320"/>
            <a:ext cx="307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9488"/>
                </a:solidFill>
                <a:latin typeface="Calibri"/>
              </a:defRPr>
            </a:pPr>
            <a:r>
              <a:t>Rate: Rs 6/kg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2920" y="2926080"/>
            <a:ext cx="307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Categorized and sorted for</a:t>
            </a:r>
            <a:br/>
            <a:r>
              <a:t>recycling facilities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840480"/>
            <a:ext cx="3352800" cy="21031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0120" y="3977640"/>
            <a:ext cx="1463040" cy="274320"/>
          </a:xfrm>
          <a:prstGeom prst="roundRect">
            <a:avLst>
              <a:gd name="adj" fmla="val 20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900" b="1">
                <a:solidFill>
                  <a:srgbClr val="FFFFFF"/>
                </a:solidFill>
                <a:latin typeface="Calibri"/>
              </a:defRPr>
            </a:pPr>
            <a:r>
              <a:t>RECYCLABLE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389120"/>
            <a:ext cx="307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F242A"/>
                </a:solidFill>
                <a:latin typeface="Calibri"/>
              </a:defRPr>
            </a:pPr>
            <a:r>
              <a:t>E-WASTE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937760"/>
            <a:ext cx="307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97706"/>
                </a:solidFill>
                <a:latin typeface="Calibri"/>
              </a:defRPr>
            </a:pPr>
            <a:r>
              <a:t>Rate: Rs 15/kg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303520"/>
            <a:ext cx="307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Categorized and sorted for</a:t>
            </a:r>
            <a:br/>
            <a:r>
              <a:t>recycling facilities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04360" y="3840480"/>
            <a:ext cx="3352800" cy="21031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41520" y="3977640"/>
            <a:ext cx="1463040" cy="27432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900" b="1">
                <a:solidFill>
                  <a:srgbClr val="FFFFFF"/>
                </a:solidFill>
                <a:latin typeface="Calibri"/>
              </a:defRPr>
            </a:pPr>
            <a:r>
              <a:t>BIODEGRADABLE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41520" y="4389120"/>
            <a:ext cx="307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F242A"/>
                </a:solidFill>
                <a:latin typeface="Calibri"/>
              </a:defRPr>
            </a:pPr>
            <a:r>
              <a:t>FOOD WASTE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41520" y="4937760"/>
            <a:ext cx="307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59669"/>
                </a:solidFill>
                <a:latin typeface="Calibri"/>
              </a:defRPr>
            </a:pPr>
            <a:r>
              <a:t>Rate: Rs 2/kg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41520" y="5303520"/>
            <a:ext cx="307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Processed through composting</a:t>
            </a:r>
            <a:br/>
            <a:r>
              <a:t>and distributed to farmers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85760" y="3840480"/>
            <a:ext cx="3352800" cy="21031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122920" y="3977640"/>
            <a:ext cx="1463040" cy="27432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900" b="1">
                <a:solidFill>
                  <a:srgbClr val="FFFFFF"/>
                </a:solidFill>
                <a:latin typeface="Calibri"/>
              </a:defRPr>
            </a:pPr>
            <a:r>
              <a:t>BIODEGRADABLE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2920" y="4389120"/>
            <a:ext cx="307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F242A"/>
                </a:solidFill>
                <a:latin typeface="Calibri"/>
              </a:defRPr>
            </a:pPr>
            <a:r>
              <a:t>GARDEN WASTE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2920" y="4937760"/>
            <a:ext cx="307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4E3B"/>
                </a:solidFill>
                <a:latin typeface="Calibri"/>
              </a:defRPr>
            </a:pPr>
            <a:r>
              <a:t>Rate: Rs 1/kg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2920" y="5303520"/>
            <a:ext cx="307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Processed through composting</a:t>
            </a:r>
            <a:br/>
            <a:r>
              <a:t>and distributed to farmers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217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59669"/>
                </a:solidFill>
                <a:latin typeface="Calibri"/>
              </a:defRPr>
            </a:pPr>
            <a:r>
              <a:t>Total: 7 waste sub-types across 2 categories  |  All rates auto-calculated on collection  |  Per-unit pricing for B2B marketplace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64E3B"/>
                </a:solidFill>
                <a:latin typeface="Calibri"/>
              </a:defRPr>
            </a:pPr>
            <a:r>
              <a:t>Module C - B2B Marketplace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Businesses list waste inventory, buyers search and purchase - with quantity validation and auto-rejection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5029200" cy="45720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463040"/>
            <a:ext cx="5029200" cy="45720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Calibri"/>
              </a:defRPr>
            </a:pPr>
            <a:r>
              <a:t>Seller Journey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31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1. Create listing: waste type, quantity, unit, price, city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2. Listing appears in marketplace search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3. Receive purchase requests from buyers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4. Accept one request (quantity validated)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5. Auto-reject all other pending requests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6. Listing quantity deducted automatically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7. Listing marked COMPLETED when quantity = 0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8. 5% commission on completed transactions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9. Track all transactions in dashboard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029200" cy="45720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463040"/>
            <a:ext cx="5029200" cy="457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Calibri"/>
              </a:defRPr>
            </a:pPr>
            <a:r>
              <a:t>Buyer Journey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031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1. Search listings by waste type, city, price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2. View listing details and seller info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3. Send purchase request with quantity &amp; price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4. Track request status (REQUESTED -&gt; ACCEPTED)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5. Accepted: proceed to pickup &amp; payment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6. Rejected: request denied by seller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7. View all transactions in dashboard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8. Track total spend and CO2 saved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9. Complete transaction after delivery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64E3B"/>
                </a:solidFill>
                <a:latin typeface="Calibri"/>
              </a:defRPr>
            </a:pPr>
            <a:r>
              <a:t>Module D - Compost &amp; Farmer 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Closing the loop: biodegradable waste becomes compost distributed to local farmers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10515600" cy="164592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55448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1. Household requests pickup of FOOD_WASTE or GARDEN_WASTE</a:t>
            </a:r>
          </a:p>
          <a:p>
            <a:pPr algn="l">
              <a:spcBef>
                <a:spcPts val="3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2. Agent collects and categorizes as BIODEGRADABLE</a:t>
            </a:r>
          </a:p>
          <a:p>
            <a:pPr algn="l">
              <a:spcBef>
                <a:spcPts val="3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3. Biodegradable waste aggregated into compost batches</a:t>
            </a:r>
          </a:p>
          <a:p>
            <a:pPr algn="l">
              <a:spcBef>
                <a:spcPts val="3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4. Batch tracked: city, total quantity, status (PENDING -&gt; READY -&gt; DISTRIBUTED)</a:t>
            </a:r>
          </a:p>
          <a:p>
            <a:pPr algn="l">
              <a:spcBef>
                <a:spcPts val="3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5. Admin monitors all batches on Compost Dashboard</a:t>
            </a:r>
          </a:p>
          <a:p>
            <a:pPr algn="l">
              <a:spcBef>
                <a:spcPts val="3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6. Distribute to farmer: name, contact, quantity</a:t>
            </a:r>
          </a:p>
          <a:p>
            <a:pPr algn="l">
              <a:spcBef>
                <a:spcPts val="3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7. Farmer receives verified compost for soil improvement</a:t>
            </a:r>
          </a:p>
          <a:p>
            <a:pPr algn="l">
              <a:spcBef>
                <a:spcPts val="3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8. Net result: waste diverted from landfill, methane reduced, farmer benefits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474720"/>
            <a:ext cx="2423160" cy="16459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3657600"/>
            <a:ext cx="457200" cy="45720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611880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42A"/>
                </a:solidFill>
                <a:latin typeface="Calibri"/>
              </a:defRPr>
            </a:pPr>
            <a:r>
              <a:t>Compost Batches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4023360"/>
            <a:ext cx="1325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Tracked per city</a:t>
            </a:r>
            <a:br/>
            <a:r>
              <a:t>with status pipeline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3474720"/>
            <a:ext cx="2423160" cy="16459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703320" y="365760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3611880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42A"/>
                </a:solidFill>
                <a:latin typeface="Calibri"/>
              </a:defRPr>
            </a:pPr>
            <a:r>
              <a:t>Farmer Distribution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4023360"/>
            <a:ext cx="1325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Name, contact,</a:t>
            </a:r>
            <a:br/>
            <a:r>
              <a:t>quantity logged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474720"/>
            <a:ext cx="2423160" cy="16459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3657600"/>
            <a:ext cx="457200" cy="457200"/>
          </a:xfrm>
          <a:prstGeom prst="ellipse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611880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42A"/>
                </a:solidFill>
                <a:latin typeface="Calibri"/>
              </a:defRPr>
            </a:pPr>
            <a:r>
              <a:t>Landfill Diverted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4023360"/>
            <a:ext cx="1325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Biodegradable waste</a:t>
            </a:r>
            <a:br/>
            <a:r>
              <a:t>kept out of landfills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15400" y="3474720"/>
            <a:ext cx="2423160" cy="16459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098280" y="365760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3611880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42A"/>
                </a:solidFill>
                <a:latin typeface="Calibri"/>
              </a:defRPr>
            </a:pPr>
            <a:r>
              <a:t>Soil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8360" y="4023360"/>
            <a:ext cx="1325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Chemical fertilizer</a:t>
            </a:r>
            <a:br/>
            <a:r>
              <a:t>reduction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64E3B"/>
                </a:solidFill>
                <a:latin typeface="Calibri"/>
              </a:defRPr>
            </a:pPr>
            <a:r>
              <a:t>Module E - Household Wallet &amp; Payouts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Transparent wallet system with lifetime tracking and per-transaction history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5029200" cy="25603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463040"/>
            <a:ext cx="5029200" cy="45720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Calibri"/>
              </a:defRPr>
            </a:pPr>
            <a:r>
              <a:t>Wallet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312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Current balance displayed on dashboard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Lifetime earnings tracking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Per-transaction history (amount, description, date)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Auto-credited on every pickup collection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Manual credit by agents (ad-hoc)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Wallet balance widget replaces old rewards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Household dashboard shows recent pickups with payout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029200" cy="25603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463040"/>
            <a:ext cx="5029200" cy="457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Calibri"/>
              </a:defRPr>
            </a:pPr>
            <a:r>
              <a:t>Payout Calculation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0312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F242A"/>
                </a:solidFill>
                <a:latin typeface="Calibri"/>
              </a:defRPr>
            </a:pPr>
            <a:r>
              <a:t>Automatic rate-card calculation:</a:t>
            </a:r>
          </a:p>
          <a:p>
            <a:pPr algn="l">
              <a:spcBef>
                <a:spcPts val="800"/>
              </a:spcBef>
              <a:defRPr sz="1300" b="1">
                <a:solidFill>
                  <a:srgbClr val="059669"/>
                </a:solidFill>
                <a:latin typeface="Calibri"/>
              </a:defRPr>
            </a:pPr>
            <a:r>
              <a:t>  payout = actual_quantity x rate_per_unit</a:t>
            </a:r>
          </a:p>
          <a:p>
            <a:pPr algn="l">
              <a:spcBef>
                <a:spcPts val="6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Example: 5 kg plastic = 5 x Rs 12 = Rs 60</a:t>
            </a:r>
          </a:p>
          <a:p>
            <a:pPr algn="l">
              <a:spcBef>
                <a:spcPts val="6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Example: 10 kg metal = 10 x Rs 25 = Rs 250</a:t>
            </a:r>
          </a:p>
          <a:p>
            <a:pPr algn="l">
              <a:spcBef>
                <a:spcPts val="6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B2B commission: 5% of transaction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389120"/>
            <a:ext cx="10515600" cy="2743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5720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4E3B"/>
                </a:solidFill>
                <a:latin typeface="Calibri"/>
              </a:defRPr>
            </a:pPr>
            <a:r>
              <a:t>API Endpoints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1F242A"/>
                </a:solidFill>
                <a:latin typeface="Calibri"/>
              </a:defRPr>
            </a:pPr>
            <a:r>
              <a:t>  GET /api/wallet/{userId} - Get wallet balance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1F242A"/>
                </a:solidFill>
                <a:latin typeface="Calibri"/>
              </a:defRPr>
            </a:pPr>
            <a:r>
              <a:t>  GET /api/wallet/{userId}/transactions - Transaction history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1F242A"/>
                </a:solidFill>
                <a:latin typeface="Calibri"/>
              </a:defRPr>
            </a:pPr>
            <a:r>
              <a:t>  POST /api/wallet/credit - Manual wallet credit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1F242A"/>
                </a:solidFill>
                <a:latin typeface="Calibri"/>
              </a:defRPr>
            </a:pPr>
            <a:r>
              <a:t>  GET /api/household/dashboard - Dashboard with wallet summary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1F242A"/>
                </a:solidFill>
                <a:latin typeface="Calibri"/>
              </a:defRPr>
            </a:pPr>
            <a:r>
              <a:t>  GET /api/household/{userId}/pickups - All pickups with payout details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64E3B"/>
                </a:solidFill>
                <a:latin typeface="Calibri"/>
              </a:defRPr>
            </a:pPr>
            <a:r>
              <a:t>Module F - Admin Dashboard &amp; 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Full platform visibility with real-time statistics across all modules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3352800" cy="173736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645920"/>
            <a:ext cx="457200" cy="457200"/>
          </a:xfrm>
          <a:prstGeom prst="ellipse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645920"/>
            <a:ext cx="234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242A"/>
                </a:solidFill>
                <a:latin typeface="Calibri"/>
              </a:defRPr>
            </a:pPr>
            <a:r>
              <a:t>Total 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03120"/>
            <a:ext cx="234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All registered users</a:t>
            </a:r>
            <a:br/>
            <a:r>
              <a:t>across 5 roles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4360" y="1463040"/>
            <a:ext cx="3352800" cy="173736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87240" y="164592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320" y="1645920"/>
            <a:ext cx="234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242A"/>
                </a:solidFill>
                <a:latin typeface="Calibri"/>
              </a:defRPr>
            </a:pPr>
            <a:r>
              <a:t>Pending Pickups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27320" y="2103120"/>
            <a:ext cx="234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Awaiting agent</a:t>
            </a:r>
            <a:br/>
            <a:r>
              <a:t>assignment or collection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5760" y="1463040"/>
            <a:ext cx="3352800" cy="173736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68640" y="164592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08720" y="1645920"/>
            <a:ext cx="234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242A"/>
                </a:solidFill>
                <a:latin typeface="Calibri"/>
              </a:defRPr>
            </a:pPr>
            <a:r>
              <a:t>Total Payouts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8720" y="2103120"/>
            <a:ext cx="234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Wallet credits issued</a:t>
            </a:r>
            <a:br/>
            <a:r>
              <a:t>to households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474720"/>
            <a:ext cx="3352800" cy="173736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3657600"/>
            <a:ext cx="457200" cy="45720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657600"/>
            <a:ext cx="234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242A"/>
                </a:solidFill>
                <a:latin typeface="Calibri"/>
              </a:defRPr>
            </a:pPr>
            <a:r>
              <a:t>Compost Batches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114800"/>
            <a:ext cx="234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Active &amp; distributed</a:t>
            </a:r>
            <a:br/>
            <a:r>
              <a:t>across cities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04360" y="3474720"/>
            <a:ext cx="3352800" cy="173736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87240" y="36576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27320" y="3657600"/>
            <a:ext cx="234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242A"/>
                </a:solidFill>
                <a:latin typeface="Calibri"/>
              </a:defRPr>
            </a:pPr>
            <a:r>
              <a:t>Transactions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7320" y="4114800"/>
            <a:ext cx="234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B2B marketplace</a:t>
            </a:r>
            <a:br/>
            <a:r>
              <a:t>transactions tracked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5760" y="3474720"/>
            <a:ext cx="3352800" cy="173736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68640" y="3657600"/>
            <a:ext cx="457200" cy="4572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08720" y="3657600"/>
            <a:ext cx="234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242A"/>
                </a:solidFill>
                <a:latin typeface="Calibri"/>
              </a:defRPr>
            </a:pPr>
            <a:r>
              <a:t>CO2 Saved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08720" y="4114800"/>
            <a:ext cx="234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Total emissions</a:t>
            </a:r>
            <a:br/>
            <a:r>
              <a:t>avoided (tonnes)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669280"/>
            <a:ext cx="10515600" cy="2743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59669"/>
                </a:solidFill>
                <a:latin typeface="Calibri"/>
              </a:defRPr>
            </a:pPr>
            <a:r>
              <a:t>Admin Panels: User Management  |  Pickup Monitoring  |  Transaction Tracking  |  Payment History  |  Compost Batch Management  |  Agent Activity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64E3B"/>
                </a:solidFill>
                <a:latin typeface="Calibri"/>
              </a:defRPr>
            </a:pPr>
            <a:r>
              <a:t>Business Model &amp; Revenue Streams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3291840" cy="21031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05840" y="1645920"/>
            <a:ext cx="1097280" cy="274320"/>
          </a:xfrm>
          <a:prstGeom prst="roundRect">
            <a:avLst>
              <a:gd name="adj" fmla="val 20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000" b="1">
                <a:solidFill>
                  <a:srgbClr val="FFFFFF"/>
                </a:solidFill>
                <a:latin typeface="Calibri"/>
              </a:defRPr>
            </a:pPr>
            <a:r>
              <a:t>Primary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574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242A"/>
                </a:solidFill>
                <a:latin typeface="Calibri"/>
              </a:defRPr>
            </a:pPr>
            <a:r>
              <a:t>Transaction Commission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5% on every B2B marketplace</a:t>
            </a:r>
            <a:br/>
            <a:r>
              <a:t>deal (buyer pays)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463040"/>
            <a:ext cx="3291840" cy="21031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17720" y="1645920"/>
            <a:ext cx="1097280" cy="27432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000" b="1">
                <a:solidFill>
                  <a:srgbClr val="FFFFFF"/>
                </a:solidFill>
                <a:latin typeface="Calibri"/>
              </a:defRPr>
            </a:pPr>
            <a:r>
              <a:t>Primary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0574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242A"/>
                </a:solidFill>
                <a:latin typeface="Calibri"/>
              </a:defRPr>
            </a:pPr>
            <a:r>
              <a:t>Collection Service Fee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6032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Per-pickup service charge</a:t>
            </a:r>
            <a:br/>
            <a:r>
              <a:t>from businesses/buyers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63040"/>
            <a:ext cx="3291840" cy="21031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0" y="1645920"/>
            <a:ext cx="1097280" cy="27432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000" b="1">
                <a:solidFill>
                  <a:srgbClr val="FFFFFF"/>
                </a:solidFill>
                <a:latin typeface="Calibri"/>
              </a:defRPr>
            </a:pPr>
            <a:r>
              <a:t>Secondary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0574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242A"/>
                </a:solidFill>
                <a:latin typeface="Calibri"/>
              </a:defRPr>
            </a:pPr>
            <a:r>
              <a:t>Premium Listings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56032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Featured listings for sellers</a:t>
            </a:r>
            <a:br/>
            <a:r>
              <a:t>who want priority visibility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840480"/>
            <a:ext cx="3291840" cy="21031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5840" y="4023360"/>
            <a:ext cx="1097280" cy="274320"/>
          </a:xfrm>
          <a:prstGeom prst="roundRect">
            <a:avLst>
              <a:gd name="adj" fmla="val 20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000" b="1">
                <a:solidFill>
                  <a:srgbClr val="FFFFFF"/>
                </a:solidFill>
                <a:latin typeface="Calibri"/>
              </a:defRPr>
            </a:pPr>
            <a:r>
              <a:t>Future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4348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242A"/>
                </a:solidFill>
                <a:latin typeface="Calibri"/>
              </a:defRPr>
            </a:pPr>
            <a:r>
              <a:t>EPR Compliance Credits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3776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Verified recycling certificates</a:t>
            </a:r>
            <a:br/>
            <a:r>
              <a:t>for EPR reporting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34840" y="3840480"/>
            <a:ext cx="3291840" cy="21031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617720" y="4023360"/>
            <a:ext cx="1097280" cy="27432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000" b="1">
                <a:solidFill>
                  <a:srgbClr val="FFFFFF"/>
                </a:solidFill>
                <a:latin typeface="Calibri"/>
              </a:defRPr>
            </a:pPr>
            <a:r>
              <a:t>Future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4348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242A"/>
                </a:solidFill>
                <a:latin typeface="Calibri"/>
              </a:defRPr>
            </a:pPr>
            <a:r>
              <a:t>Farmer Distribution Fee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93776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Service fee on compost-to-farmer</a:t>
            </a:r>
            <a:br/>
            <a:r>
              <a:t>bulk transactions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3840480"/>
            <a:ext cx="3291840" cy="21031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29600" y="4023360"/>
            <a:ext cx="1097280" cy="27432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000" b="1">
                <a:solidFill>
                  <a:srgbClr val="FFFFFF"/>
                </a:solidFill>
                <a:latin typeface="Calibri"/>
              </a:defRPr>
            </a:pPr>
            <a:r>
              <a:t>Future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4348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242A"/>
                </a:solidFill>
                <a:latin typeface="Calibri"/>
              </a:defRPr>
            </a:pPr>
            <a:r>
              <a:t>Data &amp; Analytics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93776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Waste generation insights</a:t>
            </a:r>
            <a:br/>
            <a:r>
              <a:t>for municipalities &amp; brands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64E3B"/>
                </a:solidFill>
                <a:latin typeface="Calibri"/>
              </a:defRPr>
            </a:pPr>
            <a:r>
              <a:t>Financial Projections - 3 Year Outlook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71600"/>
            <a:ext cx="3474720" cy="45720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300" b="1">
                <a:solidFill>
                  <a:srgbClr val="FFFFFF"/>
                </a:solidFill>
                <a:latin typeface="Calibri"/>
              </a:defRPr>
            </a:pPr>
            <a:r>
              <a:t>Metric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0" y="1371600"/>
            <a:ext cx="2286000" cy="45720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0" y="13716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300" b="1">
                <a:solidFill>
                  <a:srgbClr val="FFFFFF"/>
                </a:solidFill>
                <a:latin typeface="Calibri"/>
              </a:defRPr>
            </a:pPr>
            <a:r>
              <a:t>Year 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1371600"/>
            <a:ext cx="2286000" cy="45720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3716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300" b="1">
                <a:solidFill>
                  <a:srgbClr val="FFFFFF"/>
                </a:solidFill>
                <a:latin typeface="Calibri"/>
              </a:defRPr>
            </a:pPr>
            <a:r>
              <a:t>Year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69680" y="1371600"/>
            <a:ext cx="2286000" cy="45720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13716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300" b="1">
                <a:solidFill>
                  <a:srgbClr val="FFFFFF"/>
                </a:solidFill>
                <a:latin typeface="Calibri"/>
              </a:defRPr>
            </a:pPr>
            <a:r>
              <a:t>Year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1828800"/>
            <a:ext cx="347472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18288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defRPr sz="1200" b="1">
                <a:solidFill>
                  <a:srgbClr val="064E3B"/>
                </a:solidFill>
                <a:latin typeface="Calibri"/>
              </a:defRPr>
            </a:pPr>
            <a:r>
              <a:t>Active Users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828800"/>
            <a:ext cx="22860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8288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10,000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1828800"/>
            <a:ext cx="22860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8288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75,000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0" y="1828800"/>
            <a:ext cx="22860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18288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5,00,000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2286000"/>
            <a:ext cx="34747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22860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defRPr sz="1200" b="1">
                <a:solidFill>
                  <a:srgbClr val="064E3B"/>
                </a:solidFill>
                <a:latin typeface="Calibri"/>
              </a:defRPr>
            </a:pPr>
            <a:r>
              <a:t>Monthly Transactions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2286000"/>
            <a:ext cx="2286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22860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500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0" y="2286000"/>
            <a:ext cx="2286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22860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69680" y="2286000"/>
            <a:ext cx="2286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0" y="22860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40,000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2743200"/>
            <a:ext cx="347472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27432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defRPr sz="1200" b="1">
                <a:solidFill>
                  <a:srgbClr val="064E3B"/>
                </a:solidFill>
                <a:latin typeface="Calibri"/>
              </a:defRPr>
            </a:pPr>
            <a:r>
              <a:t>Avg Transaction Value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80" y="2743200"/>
            <a:ext cx="22860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2743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Rs 800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0" y="2743200"/>
            <a:ext cx="22860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75120" y="2743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Rs 1,200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69680" y="2743200"/>
            <a:ext cx="22860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1120" y="2743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Rs 1,500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3200400"/>
            <a:ext cx="34747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32004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defRPr sz="1200" b="1">
                <a:solidFill>
                  <a:srgbClr val="064E3B"/>
                </a:solidFill>
                <a:latin typeface="Calibri"/>
              </a:defRPr>
            </a:pPr>
            <a:r>
              <a:t>Gross Merchandise Value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97680" y="3200400"/>
            <a:ext cx="2286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0" y="32004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Rs 48L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0" y="3200400"/>
            <a:ext cx="2286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5120" y="32004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Rs 7.2Cr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869680" y="3200400"/>
            <a:ext cx="2286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61120" y="32004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Rs 72Cr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" y="3657600"/>
            <a:ext cx="347472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36576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defRPr sz="1200" b="1">
                <a:solidFill>
                  <a:srgbClr val="064E3B"/>
                </a:solidFill>
                <a:latin typeface="Calibri"/>
              </a:defRPr>
            </a:pPr>
            <a:r>
              <a:t>Platform Commission (5%)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97680" y="3657600"/>
            <a:ext cx="22860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89120" y="36576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Rs 2.4L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0" y="3657600"/>
            <a:ext cx="22860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75120" y="36576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Rs 36L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869680" y="3657600"/>
            <a:ext cx="22860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61120" y="36576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Rs 3.6Cr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2960" y="4114800"/>
            <a:ext cx="34747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41148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defRPr sz="1200" b="1">
                <a:solidFill>
                  <a:srgbClr val="064E3B"/>
                </a:solidFill>
                <a:latin typeface="Calibri"/>
              </a:defRPr>
            </a:pPr>
            <a:r>
              <a:t>Collection Fees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297680" y="4114800"/>
            <a:ext cx="2286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89120" y="41148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Rs 1.2L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0" y="4114800"/>
            <a:ext cx="2286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75120" y="41148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Rs 18L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869680" y="4114800"/>
            <a:ext cx="2286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961120" y="41148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Rs 1.8Cr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22960" y="4572000"/>
            <a:ext cx="347472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4400" y="45720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defRPr sz="1200" b="1">
                <a:solidFill>
                  <a:srgbClr val="064E3B"/>
                </a:solidFill>
                <a:latin typeface="Calibri"/>
              </a:defRPr>
            </a:pPr>
            <a:r>
              <a:t>Total Revenue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297680" y="4572000"/>
            <a:ext cx="22860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389120" y="45720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200" b="1">
                <a:solidFill>
                  <a:srgbClr val="1F242A"/>
                </a:solidFill>
                <a:latin typeface="Calibri"/>
              </a:defRPr>
            </a:pPr>
            <a:r>
              <a:t>Rs 3.6L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0" y="4572000"/>
            <a:ext cx="22860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75120" y="45720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200" b="1">
                <a:solidFill>
                  <a:srgbClr val="1F242A"/>
                </a:solidFill>
                <a:latin typeface="Calibri"/>
              </a:defRPr>
            </a:pPr>
            <a:r>
              <a:t>Rs 54L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869680" y="4572000"/>
            <a:ext cx="22860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961120" y="45720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200" b="1">
                <a:solidFill>
                  <a:srgbClr val="1F242A"/>
                </a:solidFill>
                <a:latin typeface="Calibri"/>
              </a:defRPr>
            </a:pPr>
            <a:r>
              <a:t>Rs 5.4Cr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60" y="5029200"/>
            <a:ext cx="34747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0" y="50292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defRPr sz="1200" b="1">
                <a:solidFill>
                  <a:srgbClr val="064E3B"/>
                </a:solidFill>
                <a:latin typeface="Calibri"/>
              </a:defRPr>
            </a:pPr>
            <a:r>
              <a:t>Operating Cost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97680" y="5029200"/>
            <a:ext cx="2286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389120" y="5029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Rs 12L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583680" y="5029200"/>
            <a:ext cx="2286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75120" y="5029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Rs 40L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869680" y="5029200"/>
            <a:ext cx="2286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961120" y="5029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Rs 3.5Cr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22960" y="5486400"/>
            <a:ext cx="347472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14400" y="54864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defRPr sz="1200" b="1">
                <a:solidFill>
                  <a:srgbClr val="064E3B"/>
                </a:solidFill>
                <a:latin typeface="Calibri"/>
              </a:defRPr>
            </a:pPr>
            <a:r>
              <a:t>Net Margin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97680" y="5486400"/>
            <a:ext cx="22860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389120" y="54864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-Rs 8.4L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83680" y="5486400"/>
            <a:ext cx="22860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675120" y="54864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Rs 14L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869680" y="5486400"/>
            <a:ext cx="2286000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961120" y="54864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Rs 1.9Cr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2960" y="56692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4E3B"/>
                </a:solidFill>
                <a:latin typeface="Calibri"/>
              </a:defRPr>
            </a:pPr>
            <a:r>
              <a:t>Key Assumptions</a:t>
            </a:r>
          </a:p>
          <a:p>
            <a:pPr algn="l">
              <a:spcBef>
                <a:spcPts val="6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Break-even: Mid Year 2  |  User acquisition cost: Rs 50-100  |  Average 3 pickups/month per household  |  5% B2B commission rate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Revenue mix Year 3: 67% commission + 33% collection fees  |  Operating cost includes server, team, marketing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64E3B"/>
                </a:solidFill>
                <a:latin typeface="Calibri"/>
              </a:defRPr>
            </a:pPr>
            <a:r>
              <a:t>Tech Architecture &amp;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423160" cy="30175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371600"/>
            <a:ext cx="2423160" cy="457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965960"/>
            <a:ext cx="2057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42A"/>
                </a:solidFill>
                <a:latin typeface="Calibri"/>
              </a:defRPr>
            </a:pPr>
            <a:r>
              <a:t>  React 19 + Vite 8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1F242A"/>
                </a:solidFill>
                <a:latin typeface="Calibri"/>
              </a:defRPr>
            </a:pPr>
            <a:r>
              <a:t>  Tailwind CSS 4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1F242A"/>
                </a:solidFill>
                <a:latin typeface="Calibri"/>
              </a:defRPr>
            </a:pPr>
            <a:r>
              <a:t>  Recharts (charts)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1F242A"/>
                </a:solidFill>
                <a:latin typeface="Calibri"/>
              </a:defRPr>
            </a:pPr>
            <a:r>
              <a:t>  React Router 7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1F242A"/>
                </a:solidFill>
                <a:latin typeface="Calibri"/>
              </a:defRPr>
            </a:pPr>
            <a:r>
              <a:t>  Axios (HTTP client)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1F242A"/>
                </a:solidFill>
                <a:latin typeface="Calibri"/>
              </a:defRPr>
            </a:pPr>
            <a:r>
              <a:t>  Role-based routing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1371600"/>
            <a:ext cx="2423160" cy="30175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20440" y="1371600"/>
            <a:ext cx="2423160" cy="45720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Calibri"/>
              </a:defRPr>
            </a:pPr>
            <a:r>
              <a:t>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965960"/>
            <a:ext cx="2057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42A"/>
                </a:solidFill>
                <a:latin typeface="Calibri"/>
              </a:defRPr>
            </a:pPr>
            <a:r>
              <a:t>  Java 21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1F242A"/>
                </a:solidFill>
                <a:latin typeface="Calibri"/>
              </a:defRPr>
            </a:pPr>
            <a:r>
              <a:t>  Spring Boot 3.3.2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1F242A"/>
                </a:solidFill>
                <a:latin typeface="Calibri"/>
              </a:defRPr>
            </a:pPr>
            <a:r>
              <a:t>  Spring Security 6.3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1F242A"/>
                </a:solidFill>
                <a:latin typeface="Calibri"/>
              </a:defRPr>
            </a:pPr>
            <a:r>
              <a:t>  Spring Data JPA 3.3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1F242A"/>
                </a:solidFill>
                <a:latin typeface="Calibri"/>
              </a:defRPr>
            </a:pPr>
            <a:r>
              <a:t>  Hibernate 6.5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1F242A"/>
                </a:solidFill>
                <a:latin typeface="Calibri"/>
              </a:defRPr>
            </a:pPr>
            <a:r>
              <a:t>  Maven build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2423160" cy="30175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371600"/>
            <a:ext cx="242316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Calibri"/>
              </a:defRPr>
            </a:pPr>
            <a:r>
              <a:t>Database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65960"/>
            <a:ext cx="2057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42A"/>
                </a:solidFill>
                <a:latin typeface="Calibri"/>
              </a:defRPr>
            </a:pPr>
            <a:r>
              <a:t>  MySQL 8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1F242A"/>
                </a:solidFill>
                <a:latin typeface="Calibri"/>
              </a:defRPr>
            </a:pPr>
            <a:r>
              <a:t>  JPA/Hibernate ORM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1F242A"/>
                </a:solidFill>
                <a:latin typeface="Calibri"/>
              </a:defRPr>
            </a:pPr>
            <a:r>
              <a:t>  Auto DDL migration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1F242A"/>
                </a:solidFill>
                <a:latin typeface="Calibri"/>
              </a:defRPr>
            </a:pPr>
            <a:r>
              <a:t>  ENUM -&gt; VARCHAR fix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1F242A"/>
                </a:solidFill>
                <a:latin typeface="Calibri"/>
              </a:defRPr>
            </a:pPr>
            <a:r>
              <a:t>  ACID transactions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1F242A"/>
                </a:solidFill>
                <a:latin typeface="Calibri"/>
              </a:defRPr>
            </a:pPr>
            <a:r>
              <a:t>  Connection pooling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5400" y="1371600"/>
            <a:ext cx="2423160" cy="30175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915400" y="1371600"/>
            <a:ext cx="2423160" cy="457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  <a:latin typeface="Calibri"/>
              </a:defRPr>
            </a:pPr>
            <a:r>
              <a:t>Security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8280" y="1965960"/>
            <a:ext cx="2057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42A"/>
                </a:solidFill>
                <a:latin typeface="Calibri"/>
              </a:defRPr>
            </a:pPr>
            <a:r>
              <a:t>  JWT (JJWT 0.12.5)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1F242A"/>
                </a:solidFill>
                <a:latin typeface="Calibri"/>
              </a:defRPr>
            </a:pPr>
            <a:r>
              <a:t>  24h token expiry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1F242A"/>
                </a:solidFill>
                <a:latin typeface="Calibri"/>
              </a:defRPr>
            </a:pPr>
            <a:r>
              <a:t>  Role-Based Access (5)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1F242A"/>
                </a:solidFill>
                <a:latin typeface="Calibri"/>
              </a:defRPr>
            </a:pPr>
            <a:r>
              <a:t>  CORS config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1F242A"/>
                </a:solidFill>
                <a:latin typeface="Calibri"/>
              </a:defRPr>
            </a:pPr>
            <a:r>
              <a:t>  @JsonIgnore on passwords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1F242A"/>
                </a:solidFill>
                <a:latin typeface="Calibri"/>
              </a:defRPr>
            </a:pPr>
            <a:r>
              <a:t>  Auto agent creation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663440"/>
            <a:ext cx="10515600" cy="2743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8463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4E3B"/>
                </a:solidFill>
                <a:latin typeface="Calibri"/>
              </a:defRPr>
            </a:pPr>
            <a:r>
              <a:t>System Design</a:t>
            </a:r>
          </a:p>
          <a:p>
            <a:pPr algn="l">
              <a:spcBef>
                <a:spcPts val="600"/>
              </a:spcBef>
              <a:defRPr sz="1100" b="0">
                <a:solidFill>
                  <a:srgbClr val="1F242A"/>
                </a:solidFill>
                <a:latin typeface="Calibri"/>
              </a:defRPr>
            </a:pPr>
            <a:r>
              <a:t>  Architecture: Monolithic Spring Boot + React SPA  |  Dev: Vite on :3000 proxies /api -&gt; :8081  |  Auth: JWT stateless  |  ORM: JPA with auto DDL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1F242A"/>
                </a:solidFill>
                <a:latin typeface="Calibri"/>
              </a:defRPr>
            </a:pPr>
            <a:r>
              <a:t>  Roles: BUSINESS_SELLER, BUSINESS_BUYER, HOUSEHOLD_USER, COLLECTION_AGENT, ADMIN  |  All endpoints REST  |  JSON responses with wrapper pattern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64E3B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Feature comparison with existing waste management platforms in India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1828800" cy="41148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1">
                <a:solidFill>
                  <a:srgbClr val="FFFFFF"/>
                </a:solidFill>
                <a:latin typeface="Calibri"/>
              </a:defRPr>
            </a:pPr>
            <a:r>
              <a:t>Feature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1645920"/>
            <a:ext cx="173736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97480" y="16459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ResourceLoop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645920"/>
            <a:ext cx="1554480" cy="41148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6459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1">
                <a:solidFill>
                  <a:srgbClr val="FFFFFF"/>
                </a:solidFill>
                <a:latin typeface="Calibri"/>
              </a:defRPr>
            </a:pPr>
            <a:r>
              <a:t>Kabadiwala</a:t>
            </a:r>
            <a:br/>
            <a:r>
              <a:t>Connect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645920"/>
            <a:ext cx="1280160" cy="41148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64592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1">
                <a:solidFill>
                  <a:srgbClr val="FFFFFF"/>
                </a:solidFill>
                <a:latin typeface="Calibri"/>
              </a:defRPr>
            </a:pPr>
            <a:r>
              <a:t>Nepra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23760" y="1645920"/>
            <a:ext cx="1280160" cy="41148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80" y="164592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1">
                <a:solidFill>
                  <a:srgbClr val="FFFFFF"/>
                </a:solidFill>
                <a:latin typeface="Calibri"/>
              </a:defRPr>
            </a:pPr>
            <a:r>
              <a:t>Attero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1645920"/>
            <a:ext cx="1280160" cy="41148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164592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Recykal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057400"/>
            <a:ext cx="1828800" cy="38404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05740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1">
                <a:solidFill>
                  <a:srgbClr val="064E3B"/>
                </a:solidFill>
                <a:latin typeface="Calibri"/>
              </a:defRPr>
            </a:pPr>
            <a:r>
              <a:t>Household Pickup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51760" y="2057400"/>
            <a:ext cx="1737360" cy="38404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51760" y="205740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059669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0" y="2057400"/>
            <a:ext cx="1554480" cy="38404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205740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6B728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0" y="2057400"/>
            <a:ext cx="1280160" cy="38404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0" y="20574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6B728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23760" y="2057400"/>
            <a:ext cx="1280160" cy="38404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0" y="20574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2057400"/>
            <a:ext cx="1280160" cy="38404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0" y="20574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351175548600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35117554860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1">
                <a:solidFill>
                  <a:srgbClr val="064E3B"/>
                </a:solidFill>
                <a:latin typeface="Calibri"/>
              </a:defRPr>
            </a:pPr>
            <a:r>
              <a:t>B2B Marketplace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51760" y="351175548600"/>
            <a:ext cx="17373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51760" y="35117554860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059669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120" y="351175548600"/>
            <a:ext cx="15544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0" y="35117554860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351175548600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0" y="3511755486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23760" y="351175548600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3760" y="3511755486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6B728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351175548600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03920" y="3511755486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6B728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702349039800"/>
            <a:ext cx="1828800" cy="38404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70234903980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1">
                <a:solidFill>
                  <a:srgbClr val="064E3B"/>
                </a:solidFill>
                <a:latin typeface="Calibri"/>
              </a:defRPr>
            </a:pPr>
            <a:r>
              <a:t>Agent Wallet System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651760" y="702349039800"/>
            <a:ext cx="1737360" cy="38404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651760" y="70234903980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059669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89120" y="702349039800"/>
            <a:ext cx="1554480" cy="38404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89120" y="70234903980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0" y="702349039800"/>
            <a:ext cx="1280160" cy="38404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0" y="7023490398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223760" y="702349039800"/>
            <a:ext cx="1280160" cy="38404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23760" y="7023490398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503920" y="702349039800"/>
            <a:ext cx="1280160" cy="38404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03920" y="7023490398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" y="1053522531000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105352253100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1">
                <a:solidFill>
                  <a:srgbClr val="064E3B"/>
                </a:solidFill>
                <a:latin typeface="Calibri"/>
              </a:defRPr>
            </a:pPr>
            <a:r>
              <a:t>Compost to Farmer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651760" y="1053522531000"/>
            <a:ext cx="17373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651760" y="105352253100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059669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89120" y="1053522531000"/>
            <a:ext cx="15544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389120" y="105352253100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943600" y="1053522531000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943600" y="10535225310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223760" y="1053522531000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23760" y="10535225310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503920" y="1053522531000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503920" y="10535225310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2960" y="1404696022200"/>
            <a:ext cx="1828800" cy="38404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2960" y="140469602220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1">
                <a:solidFill>
                  <a:srgbClr val="064E3B"/>
                </a:solidFill>
                <a:latin typeface="Calibri"/>
              </a:defRPr>
            </a:pPr>
            <a:r>
              <a:t>CO2 Impact Tracking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651760" y="1404696022200"/>
            <a:ext cx="1737360" cy="38404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651760" y="140469602220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059669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389120" y="1404696022200"/>
            <a:ext cx="1554480" cy="38404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389120" y="140469602220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943600" y="1404696022200"/>
            <a:ext cx="1280160" cy="38404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943600" y="14046960222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223760" y="1404696022200"/>
            <a:ext cx="1280160" cy="38404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223760" y="14046960222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6B728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503920" y="1404696022200"/>
            <a:ext cx="1280160" cy="38404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503920" y="14046960222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6B728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22960" y="1755869513400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2960" y="175586951340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1">
                <a:solidFill>
                  <a:srgbClr val="064E3B"/>
                </a:solidFill>
                <a:latin typeface="Calibri"/>
              </a:defRPr>
            </a:pPr>
            <a:r>
              <a:t>Multi-Waste Category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651760" y="1755869513400"/>
            <a:ext cx="17373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651760" y="175586951340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059669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120" y="1755869513400"/>
            <a:ext cx="15544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389120" y="175586951340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6B728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943600" y="1755869513400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943600" y="17558695134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6B728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223760" y="1755869513400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223760" y="17558695134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6B728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503920" y="1755869513400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503920" y="17558695134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6B728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2107043004600"/>
            <a:ext cx="1828800" cy="38404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210704300460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1">
                <a:solidFill>
                  <a:srgbClr val="064E3B"/>
                </a:solidFill>
                <a:latin typeface="Calibri"/>
              </a:defRPr>
            </a:pPr>
            <a:r>
              <a:t>Real-time Agent Match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651760" y="2107043004600"/>
            <a:ext cx="1737360" cy="38404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651760" y="210704300460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059669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389120" y="2107043004600"/>
            <a:ext cx="1554480" cy="38404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389120" y="210704300460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943600" y="2107043004600"/>
            <a:ext cx="1280160" cy="38404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943600" y="21070430046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6B728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223760" y="2107043004600"/>
            <a:ext cx="1280160" cy="38404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223760" y="21070430046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503920" y="2107043004600"/>
            <a:ext cx="1280160" cy="38404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503920" y="21070430046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2458216495800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22960" y="245821649580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1">
                <a:solidFill>
                  <a:srgbClr val="064E3B"/>
                </a:solidFill>
                <a:latin typeface="Calibri"/>
              </a:defRPr>
            </a:pPr>
            <a:r>
              <a:t>Rate Card Payouts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651760" y="2458216495800"/>
            <a:ext cx="17373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651760" y="245821649580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059669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389120" y="2458216495800"/>
            <a:ext cx="15544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389120" y="245821649580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6B728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943600" y="2458216495800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943600" y="24582164958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223760" y="2458216495800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223760" y="24582164958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503920" y="2458216495800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503920" y="24582164958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6B728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22960" y="2809389987000"/>
            <a:ext cx="1828800" cy="38404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22960" y="280938998700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1">
                <a:solidFill>
                  <a:srgbClr val="064E3B"/>
                </a:solidFill>
                <a:latin typeface="Calibri"/>
              </a:defRPr>
            </a:pPr>
            <a:r>
              <a:t>5 Role Dashboards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2651760" y="2809389987000"/>
            <a:ext cx="1737360" cy="38404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651760" y="280938998700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059669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389120" y="2809389987000"/>
            <a:ext cx="1554480" cy="38404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389120" y="280938998700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943600" y="2809389987000"/>
            <a:ext cx="1280160" cy="38404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943600" y="28093899870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223760" y="2809389987000"/>
            <a:ext cx="1280160" cy="38404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223760" y="28093899870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03920" y="2809389987000"/>
            <a:ext cx="1280160" cy="38404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3920" y="28093899870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22960" y="3160563478200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22960" y="316056347820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1">
                <a:solidFill>
                  <a:srgbClr val="064E3B"/>
                </a:solidFill>
                <a:latin typeface="Calibri"/>
              </a:defRPr>
            </a:pPr>
            <a:r>
              <a:t>End-to-End Chain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651760" y="3160563478200"/>
            <a:ext cx="17373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651760" y="316056347820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059669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389120" y="3160563478200"/>
            <a:ext cx="15544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389120" y="316056347820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943600" y="3160563478200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943600" y="31605634782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223760" y="3160563478200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223760" y="31605634782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8503920" y="3160563478200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503920" y="31605634782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defRPr sz="1000" b="0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822960" y="5943600"/>
            <a:ext cx="10515600" cy="5486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97280" y="59893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64E3B"/>
                </a:solidFill>
                <a:latin typeface="Calibri"/>
              </a:defRPr>
            </a:pPr>
            <a:r>
              <a:t>Our Edge: Only platform offering end-to-end ecosystem - household -&gt; agent -&gt; B2B -&gt; compost -&gt; farmer - in a single product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64E3B"/>
                </a:solidFill>
                <a:latin typeface="Calibri"/>
              </a:defRPr>
            </a:pPr>
            <a:r>
              <a:t>Social &amp; Environmental Impact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3352800" cy="21031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554480"/>
            <a:ext cx="457200" cy="457200"/>
          </a:xfrm>
          <a:prstGeom prst="ellipse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554480"/>
            <a:ext cx="234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42A"/>
                </a:solidFill>
                <a:latin typeface="Calibri"/>
              </a:defRPr>
            </a:pPr>
            <a:r>
              <a:t>CO2 Emissions Reduced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298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~2.5 tonnes CO2e saved per</a:t>
            </a:r>
            <a:br/>
            <a:r>
              <a:t>tonne of waste recycled (UNEP)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1371600"/>
            <a:ext cx="3352800" cy="21031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87240" y="1554480"/>
            <a:ext cx="457200" cy="45720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27320" y="1554480"/>
            <a:ext cx="234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42A"/>
                </a:solidFill>
                <a:latin typeface="Calibri"/>
              </a:defRPr>
            </a:pPr>
            <a:r>
              <a:t>Landfill Diversion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7240" y="2148840"/>
            <a:ext cx="298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Every pickup keeps waste</a:t>
            </a:r>
            <a:br/>
            <a:r>
              <a:t>out of overflowing landfills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1371600"/>
            <a:ext cx="3352800" cy="21031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168640" y="15544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8720" y="1554480"/>
            <a:ext cx="234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42A"/>
                </a:solidFill>
                <a:latin typeface="Calibri"/>
              </a:defRPr>
            </a:pPr>
            <a:r>
              <a:t>Household Income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8640" y="2148840"/>
            <a:ext cx="298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Waste becomes income -</a:t>
            </a:r>
            <a:br/>
            <a:r>
              <a:t>Rs 1,000-3,000/month potential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749040"/>
            <a:ext cx="3352800" cy="21031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05840" y="393192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3931920"/>
            <a:ext cx="234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42A"/>
                </a:solidFill>
                <a:latin typeface="Calibri"/>
              </a:defRPr>
            </a:pPr>
            <a:r>
              <a:t>Farmer Benefits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526280"/>
            <a:ext cx="298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Free/low-cost compost improves</a:t>
            </a:r>
            <a:br/>
            <a:r>
              <a:t>soil, reduces chemical fertilizer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4360" y="3749040"/>
            <a:ext cx="3352800" cy="21031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87240" y="393192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27320" y="3931920"/>
            <a:ext cx="234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42A"/>
                </a:solidFill>
                <a:latin typeface="Calibri"/>
              </a:defRPr>
            </a:pPr>
            <a:r>
              <a:t>Informal Sector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7240" y="4526280"/>
            <a:ext cx="298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Formalizes waste workers with</a:t>
            </a:r>
            <a:br/>
            <a:r>
              <a:t>digital identity &amp; stable earnings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85760" y="3749040"/>
            <a:ext cx="3352800" cy="21031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68640" y="3931920"/>
            <a:ext cx="457200" cy="45720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8720" y="3931920"/>
            <a:ext cx="234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42A"/>
                </a:solidFill>
                <a:latin typeface="Calibri"/>
              </a:defRPr>
            </a:pPr>
            <a:r>
              <a:t>EPR Compliance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8640" y="4526280"/>
            <a:ext cx="298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Verified recycling data helps</a:t>
            </a:r>
            <a:br/>
            <a:r>
              <a:t>businesses meet EPR targets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6217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Impact metrics based on UNEP, CPCB, and MoEFCC estimates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64E3B"/>
                </a:solidFill>
                <a:latin typeface="Calibri"/>
              </a:defRPr>
            </a:pPr>
            <a:r>
              <a:t>Product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423160" cy="822960"/>
          </a:xfrm>
          <a:prstGeom prst="roundRect">
            <a:avLst>
              <a:gd name="adj" fmla="val 8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200" b="1">
                <a:solidFill>
                  <a:srgbClr val="FFFFFF"/>
                </a:solidFill>
                <a:latin typeface="Calibri"/>
              </a:defRPr>
            </a:pPr>
            <a:r>
              <a:t>Phase 1 - Q1 2026</a:t>
            </a:r>
          </a:p>
          <a:p>
            <a:pPr algn="ctr">
              <a:spcBef>
                <a:spcPts val="200"/>
              </a:spcBef>
              <a:defRPr sz="1400" b="1">
                <a:solidFill>
                  <a:srgbClr val="FFFFFF"/>
                </a:solidFill>
                <a:latin typeface="Calibri"/>
              </a:defRPr>
            </a:pPr>
            <a:r>
              <a:t>MVP Launch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2423160" cy="23774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60320"/>
            <a:ext cx="2057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Core platform live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Pilot in 2 cities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100 households + 10 agents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Basic B2B marketplace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1371600"/>
            <a:ext cx="2423160" cy="822960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200" b="1">
                <a:solidFill>
                  <a:srgbClr val="FFFFFF"/>
                </a:solidFill>
                <a:latin typeface="Calibri"/>
              </a:defRPr>
            </a:pPr>
            <a:r>
              <a:t>Phase 2 - Q2-Q3 2026</a:t>
            </a:r>
          </a:p>
          <a:p>
            <a:pPr algn="ctr">
              <a:spcBef>
                <a:spcPts val="200"/>
              </a:spcBef>
              <a:defRPr sz="1400" b="1">
                <a:solidFill>
                  <a:srgbClr val="FFFFFF"/>
                </a:solidFill>
                <a:latin typeface="Calibri"/>
              </a:defRPr>
            </a:pPr>
            <a:r>
              <a:t>Scale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2377440"/>
            <a:ext cx="2423160" cy="23774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3320" y="2560320"/>
            <a:ext cx="2057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Expand to 10 cities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Mobile app (React Native)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EPR compliance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AI waste sorting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2423160" cy="82296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200" b="1">
                <a:solidFill>
                  <a:srgbClr val="FFFFFF"/>
                </a:solidFill>
                <a:latin typeface="Calibri"/>
              </a:defRPr>
            </a:pPr>
            <a:r>
              <a:t>Phase 3 - Q4 2026</a:t>
            </a:r>
          </a:p>
          <a:p>
            <a:pPr algn="ctr">
              <a:spcBef>
                <a:spcPts val="200"/>
              </a:spcBef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Growth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377440"/>
            <a:ext cx="2423160" cy="23774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560320"/>
            <a:ext cx="2057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50 cities, 100K users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Municipal partnerships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Carbon credits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Series A raise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5400" y="1371600"/>
            <a:ext cx="2423160" cy="82296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200" b="1">
                <a:solidFill>
                  <a:srgbClr val="FFFFFF"/>
                </a:solidFill>
                <a:latin typeface="Calibri"/>
              </a:defRPr>
            </a:pPr>
            <a:r>
              <a:t>Phase 4 - 2027</a:t>
            </a:r>
          </a:p>
          <a:p>
            <a:pPr algn="ctr">
              <a:spcBef>
                <a:spcPts val="200"/>
              </a:spcBef>
              <a:defRPr sz="1400" b="1">
                <a:solidFill>
                  <a:srgbClr val="FFFFFF"/>
                </a:solidFill>
                <a:latin typeface="Calibri"/>
              </a:defRPr>
            </a:pPr>
            <a:r>
              <a:t>National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400" y="2377440"/>
            <a:ext cx="2423160" cy="23774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80" y="2560320"/>
            <a:ext cx="2057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Pan-India 100+ cities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SE Asia expansion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IPO readiness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1F242A"/>
                </a:solidFill>
                <a:latin typeface="Calibri"/>
              </a:defRPr>
            </a:pPr>
            <a:r>
              <a:t>  10M+ users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4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10B981"/>
                </a:solidFill>
                <a:latin typeface="Calibri"/>
              </a:defRPr>
            </a:pPr>
            <a:r>
              <a:t>ResourceLoop - Turning Waste into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931920"/>
            <a:ext cx="10515600" cy="2743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7280"/>
                </a:solidFill>
                <a:latin typeface="Calibri"/>
              </a:defRPr>
            </a:pPr>
            <a:r>
              <a:t>Team Robbin Good  -  Tejas India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846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0B981"/>
                </a:solidFill>
                <a:latin typeface="Calibri"/>
              </a:defRPr>
            </a:pPr>
            <a:r>
              <a:t>github.com/Tejas-India-Hackathon-2026/Team-Robbin-Good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